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</p:sldIdLst>
  <p:sldSz cx="12960350" cy="8729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1117"/>
    <a:srgbClr val="0E1100"/>
    <a:srgbClr val="007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58"/>
    <p:restoredTop sz="94658"/>
  </p:normalViewPr>
  <p:slideViewPr>
    <p:cSldViewPr snapToGrid="0">
      <p:cViewPr varScale="1">
        <p:scale>
          <a:sx n="94" d="100"/>
          <a:sy n="94" d="100"/>
        </p:scale>
        <p:origin x="3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2026" y="1428675"/>
            <a:ext cx="11016298" cy="3039216"/>
          </a:xfrm>
        </p:spPr>
        <p:txBody>
          <a:bodyPr anchor="b"/>
          <a:lstStyle>
            <a:lvl1pPr algn="ctr">
              <a:defRPr sz="763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0044" y="4585095"/>
            <a:ext cx="9720263" cy="2107647"/>
          </a:xfrm>
        </p:spPr>
        <p:txBody>
          <a:bodyPr/>
          <a:lstStyle>
            <a:lvl1pPr marL="0" indent="0" algn="ctr">
              <a:buNone/>
              <a:defRPr sz="3055"/>
            </a:lvl1pPr>
            <a:lvl2pPr marL="581970" indent="0" algn="ctr">
              <a:buNone/>
              <a:defRPr sz="2546"/>
            </a:lvl2pPr>
            <a:lvl3pPr marL="1163940" indent="0" algn="ctr">
              <a:buNone/>
              <a:defRPr sz="2291"/>
            </a:lvl3pPr>
            <a:lvl4pPr marL="1745910" indent="0" algn="ctr">
              <a:buNone/>
              <a:defRPr sz="2037"/>
            </a:lvl4pPr>
            <a:lvl5pPr marL="2327880" indent="0" algn="ctr">
              <a:buNone/>
              <a:defRPr sz="2037"/>
            </a:lvl5pPr>
            <a:lvl6pPr marL="2909849" indent="0" algn="ctr">
              <a:buNone/>
              <a:defRPr sz="2037"/>
            </a:lvl6pPr>
            <a:lvl7pPr marL="3491819" indent="0" algn="ctr">
              <a:buNone/>
              <a:defRPr sz="2037"/>
            </a:lvl7pPr>
            <a:lvl8pPr marL="4073789" indent="0" algn="ctr">
              <a:buNone/>
              <a:defRPr sz="2037"/>
            </a:lvl8pPr>
            <a:lvl9pPr marL="4655759" indent="0" algn="ctr">
              <a:buNone/>
              <a:defRPr sz="2037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94C0-8DFA-2641-890F-3CF717D2ABC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3370-AB77-A740-B520-A4387D03B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605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94C0-8DFA-2641-890F-3CF717D2ABC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3370-AB77-A740-B520-A4387D03B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606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275" y="2176356"/>
            <a:ext cx="11178302" cy="3631297"/>
          </a:xfrm>
        </p:spPr>
        <p:txBody>
          <a:bodyPr anchor="b"/>
          <a:lstStyle>
            <a:lvl1pPr>
              <a:defRPr sz="763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4275" y="5842006"/>
            <a:ext cx="11178302" cy="1909613"/>
          </a:xfrm>
        </p:spPr>
        <p:txBody>
          <a:bodyPr/>
          <a:lstStyle>
            <a:lvl1pPr marL="0" indent="0">
              <a:buNone/>
              <a:defRPr sz="3055">
                <a:solidFill>
                  <a:schemeClr val="tx1">
                    <a:tint val="82000"/>
                  </a:schemeClr>
                </a:solidFill>
              </a:defRPr>
            </a:lvl1pPr>
            <a:lvl2pPr marL="581970" indent="0">
              <a:buNone/>
              <a:defRPr sz="2546">
                <a:solidFill>
                  <a:schemeClr val="tx1">
                    <a:tint val="82000"/>
                  </a:schemeClr>
                </a:solidFill>
              </a:defRPr>
            </a:lvl2pPr>
            <a:lvl3pPr marL="1163940" indent="0">
              <a:buNone/>
              <a:defRPr sz="2291">
                <a:solidFill>
                  <a:schemeClr val="tx1">
                    <a:tint val="82000"/>
                  </a:schemeClr>
                </a:solidFill>
              </a:defRPr>
            </a:lvl3pPr>
            <a:lvl4pPr marL="1745910" indent="0">
              <a:buNone/>
              <a:defRPr sz="2037">
                <a:solidFill>
                  <a:schemeClr val="tx1">
                    <a:tint val="82000"/>
                  </a:schemeClr>
                </a:solidFill>
              </a:defRPr>
            </a:lvl4pPr>
            <a:lvl5pPr marL="2327880" indent="0">
              <a:buNone/>
              <a:defRPr sz="2037">
                <a:solidFill>
                  <a:schemeClr val="tx1">
                    <a:tint val="82000"/>
                  </a:schemeClr>
                </a:solidFill>
              </a:defRPr>
            </a:lvl5pPr>
            <a:lvl6pPr marL="2909849" indent="0">
              <a:buNone/>
              <a:defRPr sz="2037">
                <a:solidFill>
                  <a:schemeClr val="tx1">
                    <a:tint val="82000"/>
                  </a:schemeClr>
                </a:solidFill>
              </a:defRPr>
            </a:lvl6pPr>
            <a:lvl7pPr marL="3491819" indent="0">
              <a:buNone/>
              <a:defRPr sz="2037">
                <a:solidFill>
                  <a:schemeClr val="tx1">
                    <a:tint val="82000"/>
                  </a:schemeClr>
                </a:solidFill>
              </a:defRPr>
            </a:lvl7pPr>
            <a:lvl8pPr marL="4073789" indent="0">
              <a:buNone/>
              <a:defRPr sz="2037">
                <a:solidFill>
                  <a:schemeClr val="tx1">
                    <a:tint val="82000"/>
                  </a:schemeClr>
                </a:solidFill>
              </a:defRPr>
            </a:lvl8pPr>
            <a:lvl9pPr marL="4655759" indent="0">
              <a:buNone/>
              <a:defRPr sz="203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94C0-8DFA-2641-890F-3CF717D2ABC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3370-AB77-A740-B520-A4387D03B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66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024" y="2323869"/>
            <a:ext cx="5508149" cy="553889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177" y="2323869"/>
            <a:ext cx="5508149" cy="553889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94C0-8DFA-2641-890F-3CF717D2ABC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3370-AB77-A740-B520-A4387D03B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243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2" y="464776"/>
            <a:ext cx="11178302" cy="168733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2713" y="2139981"/>
            <a:ext cx="5482835" cy="1048771"/>
          </a:xfrm>
        </p:spPr>
        <p:txBody>
          <a:bodyPr anchor="b"/>
          <a:lstStyle>
            <a:lvl1pPr marL="0" indent="0">
              <a:buNone/>
              <a:defRPr sz="3055" b="1"/>
            </a:lvl1pPr>
            <a:lvl2pPr marL="581970" indent="0">
              <a:buNone/>
              <a:defRPr sz="2546" b="1"/>
            </a:lvl2pPr>
            <a:lvl3pPr marL="1163940" indent="0">
              <a:buNone/>
              <a:defRPr sz="2291" b="1"/>
            </a:lvl3pPr>
            <a:lvl4pPr marL="1745910" indent="0">
              <a:buNone/>
              <a:defRPr sz="2037" b="1"/>
            </a:lvl4pPr>
            <a:lvl5pPr marL="2327880" indent="0">
              <a:buNone/>
              <a:defRPr sz="2037" b="1"/>
            </a:lvl5pPr>
            <a:lvl6pPr marL="2909849" indent="0">
              <a:buNone/>
              <a:defRPr sz="2037" b="1"/>
            </a:lvl6pPr>
            <a:lvl7pPr marL="3491819" indent="0">
              <a:buNone/>
              <a:defRPr sz="2037" b="1"/>
            </a:lvl7pPr>
            <a:lvl8pPr marL="4073789" indent="0">
              <a:buNone/>
              <a:defRPr sz="2037" b="1"/>
            </a:lvl8pPr>
            <a:lvl9pPr marL="4655759" indent="0">
              <a:buNone/>
              <a:defRPr sz="203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2713" y="3188752"/>
            <a:ext cx="5482835" cy="469017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61178" y="2139981"/>
            <a:ext cx="5509837" cy="1048771"/>
          </a:xfrm>
        </p:spPr>
        <p:txBody>
          <a:bodyPr anchor="b"/>
          <a:lstStyle>
            <a:lvl1pPr marL="0" indent="0">
              <a:buNone/>
              <a:defRPr sz="3055" b="1"/>
            </a:lvl1pPr>
            <a:lvl2pPr marL="581970" indent="0">
              <a:buNone/>
              <a:defRPr sz="2546" b="1"/>
            </a:lvl2pPr>
            <a:lvl3pPr marL="1163940" indent="0">
              <a:buNone/>
              <a:defRPr sz="2291" b="1"/>
            </a:lvl3pPr>
            <a:lvl4pPr marL="1745910" indent="0">
              <a:buNone/>
              <a:defRPr sz="2037" b="1"/>
            </a:lvl4pPr>
            <a:lvl5pPr marL="2327880" indent="0">
              <a:buNone/>
              <a:defRPr sz="2037" b="1"/>
            </a:lvl5pPr>
            <a:lvl6pPr marL="2909849" indent="0">
              <a:buNone/>
              <a:defRPr sz="2037" b="1"/>
            </a:lvl6pPr>
            <a:lvl7pPr marL="3491819" indent="0">
              <a:buNone/>
              <a:defRPr sz="2037" b="1"/>
            </a:lvl7pPr>
            <a:lvl8pPr marL="4073789" indent="0">
              <a:buNone/>
              <a:defRPr sz="2037" b="1"/>
            </a:lvl8pPr>
            <a:lvl9pPr marL="4655759" indent="0">
              <a:buNone/>
              <a:defRPr sz="203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61178" y="3188752"/>
            <a:ext cx="5509837" cy="469017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94C0-8DFA-2641-890F-3CF717D2ABC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3370-AB77-A740-B520-A4387D03B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053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94C0-8DFA-2641-890F-3CF717D2ABC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3370-AB77-A740-B520-A4387D03B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127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94C0-8DFA-2641-890F-3CF717D2ABC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3370-AB77-A740-B520-A4387D03B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038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2" y="581978"/>
            <a:ext cx="4180050" cy="2036921"/>
          </a:xfrm>
        </p:spPr>
        <p:txBody>
          <a:bodyPr anchor="b"/>
          <a:lstStyle>
            <a:lvl1pPr>
              <a:defRPr sz="407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9837" y="1256912"/>
            <a:ext cx="6561177" cy="6203719"/>
          </a:xfrm>
        </p:spPr>
        <p:txBody>
          <a:bodyPr/>
          <a:lstStyle>
            <a:lvl1pPr>
              <a:defRPr sz="4073"/>
            </a:lvl1pPr>
            <a:lvl2pPr>
              <a:defRPr sz="3564"/>
            </a:lvl2pPr>
            <a:lvl3pPr>
              <a:defRPr sz="3055"/>
            </a:lvl3pPr>
            <a:lvl4pPr>
              <a:defRPr sz="2546"/>
            </a:lvl4pPr>
            <a:lvl5pPr>
              <a:defRPr sz="2546"/>
            </a:lvl5pPr>
            <a:lvl6pPr>
              <a:defRPr sz="2546"/>
            </a:lvl6pPr>
            <a:lvl7pPr>
              <a:defRPr sz="2546"/>
            </a:lvl7pPr>
            <a:lvl8pPr>
              <a:defRPr sz="2546"/>
            </a:lvl8pPr>
            <a:lvl9pPr>
              <a:defRPr sz="2546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2712" y="2618899"/>
            <a:ext cx="4180050" cy="4851834"/>
          </a:xfrm>
        </p:spPr>
        <p:txBody>
          <a:bodyPr/>
          <a:lstStyle>
            <a:lvl1pPr marL="0" indent="0">
              <a:buNone/>
              <a:defRPr sz="2037"/>
            </a:lvl1pPr>
            <a:lvl2pPr marL="581970" indent="0">
              <a:buNone/>
              <a:defRPr sz="1782"/>
            </a:lvl2pPr>
            <a:lvl3pPr marL="1163940" indent="0">
              <a:buNone/>
              <a:defRPr sz="1527"/>
            </a:lvl3pPr>
            <a:lvl4pPr marL="1745910" indent="0">
              <a:buNone/>
              <a:defRPr sz="1273"/>
            </a:lvl4pPr>
            <a:lvl5pPr marL="2327880" indent="0">
              <a:buNone/>
              <a:defRPr sz="1273"/>
            </a:lvl5pPr>
            <a:lvl6pPr marL="2909849" indent="0">
              <a:buNone/>
              <a:defRPr sz="1273"/>
            </a:lvl6pPr>
            <a:lvl7pPr marL="3491819" indent="0">
              <a:buNone/>
              <a:defRPr sz="1273"/>
            </a:lvl7pPr>
            <a:lvl8pPr marL="4073789" indent="0">
              <a:buNone/>
              <a:defRPr sz="1273"/>
            </a:lvl8pPr>
            <a:lvl9pPr marL="4655759" indent="0">
              <a:buNone/>
              <a:defRPr sz="127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94C0-8DFA-2641-890F-3CF717D2ABC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3370-AB77-A740-B520-A4387D03B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718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2" y="581978"/>
            <a:ext cx="4180050" cy="2036921"/>
          </a:xfrm>
        </p:spPr>
        <p:txBody>
          <a:bodyPr anchor="b"/>
          <a:lstStyle>
            <a:lvl1pPr>
              <a:defRPr sz="407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09837" y="1256912"/>
            <a:ext cx="6561177" cy="6203719"/>
          </a:xfrm>
        </p:spPr>
        <p:txBody>
          <a:bodyPr anchor="t"/>
          <a:lstStyle>
            <a:lvl1pPr marL="0" indent="0">
              <a:buNone/>
              <a:defRPr sz="4073"/>
            </a:lvl1pPr>
            <a:lvl2pPr marL="581970" indent="0">
              <a:buNone/>
              <a:defRPr sz="3564"/>
            </a:lvl2pPr>
            <a:lvl3pPr marL="1163940" indent="0">
              <a:buNone/>
              <a:defRPr sz="3055"/>
            </a:lvl3pPr>
            <a:lvl4pPr marL="1745910" indent="0">
              <a:buNone/>
              <a:defRPr sz="2546"/>
            </a:lvl4pPr>
            <a:lvl5pPr marL="2327880" indent="0">
              <a:buNone/>
              <a:defRPr sz="2546"/>
            </a:lvl5pPr>
            <a:lvl6pPr marL="2909849" indent="0">
              <a:buNone/>
              <a:defRPr sz="2546"/>
            </a:lvl6pPr>
            <a:lvl7pPr marL="3491819" indent="0">
              <a:buNone/>
              <a:defRPr sz="2546"/>
            </a:lvl7pPr>
            <a:lvl8pPr marL="4073789" indent="0">
              <a:buNone/>
              <a:defRPr sz="2546"/>
            </a:lvl8pPr>
            <a:lvl9pPr marL="4655759" indent="0">
              <a:buNone/>
              <a:defRPr sz="2546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2712" y="2618899"/>
            <a:ext cx="4180050" cy="4851834"/>
          </a:xfrm>
        </p:spPr>
        <p:txBody>
          <a:bodyPr/>
          <a:lstStyle>
            <a:lvl1pPr marL="0" indent="0">
              <a:buNone/>
              <a:defRPr sz="2037"/>
            </a:lvl1pPr>
            <a:lvl2pPr marL="581970" indent="0">
              <a:buNone/>
              <a:defRPr sz="1782"/>
            </a:lvl2pPr>
            <a:lvl3pPr marL="1163940" indent="0">
              <a:buNone/>
              <a:defRPr sz="1527"/>
            </a:lvl3pPr>
            <a:lvl4pPr marL="1745910" indent="0">
              <a:buNone/>
              <a:defRPr sz="1273"/>
            </a:lvl4pPr>
            <a:lvl5pPr marL="2327880" indent="0">
              <a:buNone/>
              <a:defRPr sz="1273"/>
            </a:lvl5pPr>
            <a:lvl6pPr marL="2909849" indent="0">
              <a:buNone/>
              <a:defRPr sz="1273"/>
            </a:lvl6pPr>
            <a:lvl7pPr marL="3491819" indent="0">
              <a:buNone/>
              <a:defRPr sz="1273"/>
            </a:lvl7pPr>
            <a:lvl8pPr marL="4073789" indent="0">
              <a:buNone/>
              <a:defRPr sz="1273"/>
            </a:lvl8pPr>
            <a:lvl9pPr marL="4655759" indent="0">
              <a:buNone/>
              <a:defRPr sz="127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94C0-8DFA-2641-890F-3CF717D2ABC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3370-AB77-A740-B520-A4387D03B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730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94C0-8DFA-2641-890F-3CF717D2ABC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3370-AB77-A740-B520-A4387D03B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25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4751" y="464774"/>
            <a:ext cx="2794575" cy="739798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1025" y="464774"/>
            <a:ext cx="8221722" cy="739798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94C0-8DFA-2641-890F-3CF717D2ABC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3370-AB77-A740-B520-A4387D03B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64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024" y="464776"/>
            <a:ext cx="11178302" cy="168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024" y="2323869"/>
            <a:ext cx="11178302" cy="55388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1024" y="8091106"/>
            <a:ext cx="2916079" cy="4647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2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BE94C0-8DFA-2641-890F-3CF717D2ABC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93116" y="8091106"/>
            <a:ext cx="4374118" cy="4647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2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3247" y="8091106"/>
            <a:ext cx="2916079" cy="4647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2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BF3370-AB77-A740-B520-A4387D03B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321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163940" rtl="0" eaLnBrk="1" latinLnBrk="0" hangingPunct="1">
        <a:lnSpc>
          <a:spcPct val="90000"/>
        </a:lnSpc>
        <a:spcBef>
          <a:spcPct val="0"/>
        </a:spcBef>
        <a:buNone/>
        <a:defRPr sz="56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0985" indent="-290985" algn="l" defTabSz="1163940" rtl="0" eaLnBrk="1" latinLnBrk="0" hangingPunct="1">
        <a:lnSpc>
          <a:spcPct val="90000"/>
        </a:lnSpc>
        <a:spcBef>
          <a:spcPts val="1273"/>
        </a:spcBef>
        <a:buFont typeface="Arial" panose="020B0604020202020204" pitchFamily="34" charset="0"/>
        <a:buChar char="•"/>
        <a:defRPr sz="3564" kern="1200">
          <a:solidFill>
            <a:schemeClr val="tx1"/>
          </a:solidFill>
          <a:latin typeface="+mn-lt"/>
          <a:ea typeface="+mn-ea"/>
          <a:cs typeface="+mn-cs"/>
        </a:defRPr>
      </a:lvl1pPr>
      <a:lvl2pPr marL="872955" indent="-290985" algn="l" defTabSz="1163940" rtl="0" eaLnBrk="1" latinLnBrk="0" hangingPunct="1">
        <a:lnSpc>
          <a:spcPct val="90000"/>
        </a:lnSpc>
        <a:spcBef>
          <a:spcPts val="636"/>
        </a:spcBef>
        <a:buFont typeface="Arial" panose="020B0604020202020204" pitchFamily="34" charset="0"/>
        <a:buChar char="•"/>
        <a:defRPr sz="3055" kern="1200">
          <a:solidFill>
            <a:schemeClr val="tx1"/>
          </a:solidFill>
          <a:latin typeface="+mn-lt"/>
          <a:ea typeface="+mn-ea"/>
          <a:cs typeface="+mn-cs"/>
        </a:defRPr>
      </a:lvl2pPr>
      <a:lvl3pPr marL="1454925" indent="-290985" algn="l" defTabSz="1163940" rtl="0" eaLnBrk="1" latinLnBrk="0" hangingPunct="1">
        <a:lnSpc>
          <a:spcPct val="90000"/>
        </a:lnSpc>
        <a:spcBef>
          <a:spcPts val="636"/>
        </a:spcBef>
        <a:buFont typeface="Arial" panose="020B0604020202020204" pitchFamily="34" charset="0"/>
        <a:buChar char="•"/>
        <a:defRPr sz="2546" kern="1200">
          <a:solidFill>
            <a:schemeClr val="tx1"/>
          </a:solidFill>
          <a:latin typeface="+mn-lt"/>
          <a:ea typeface="+mn-ea"/>
          <a:cs typeface="+mn-cs"/>
        </a:defRPr>
      </a:lvl3pPr>
      <a:lvl4pPr marL="2036895" indent="-290985" algn="l" defTabSz="1163940" rtl="0" eaLnBrk="1" latinLnBrk="0" hangingPunct="1">
        <a:lnSpc>
          <a:spcPct val="90000"/>
        </a:lnSpc>
        <a:spcBef>
          <a:spcPts val="636"/>
        </a:spcBef>
        <a:buFont typeface="Arial" panose="020B0604020202020204" pitchFamily="34" charset="0"/>
        <a:buChar char="•"/>
        <a:defRPr sz="2291" kern="1200">
          <a:solidFill>
            <a:schemeClr val="tx1"/>
          </a:solidFill>
          <a:latin typeface="+mn-lt"/>
          <a:ea typeface="+mn-ea"/>
          <a:cs typeface="+mn-cs"/>
        </a:defRPr>
      </a:lvl4pPr>
      <a:lvl5pPr marL="2618864" indent="-290985" algn="l" defTabSz="1163940" rtl="0" eaLnBrk="1" latinLnBrk="0" hangingPunct="1">
        <a:lnSpc>
          <a:spcPct val="90000"/>
        </a:lnSpc>
        <a:spcBef>
          <a:spcPts val="636"/>
        </a:spcBef>
        <a:buFont typeface="Arial" panose="020B0604020202020204" pitchFamily="34" charset="0"/>
        <a:buChar char="•"/>
        <a:defRPr sz="2291" kern="1200">
          <a:solidFill>
            <a:schemeClr val="tx1"/>
          </a:solidFill>
          <a:latin typeface="+mn-lt"/>
          <a:ea typeface="+mn-ea"/>
          <a:cs typeface="+mn-cs"/>
        </a:defRPr>
      </a:lvl5pPr>
      <a:lvl6pPr marL="3200834" indent="-290985" algn="l" defTabSz="1163940" rtl="0" eaLnBrk="1" latinLnBrk="0" hangingPunct="1">
        <a:lnSpc>
          <a:spcPct val="90000"/>
        </a:lnSpc>
        <a:spcBef>
          <a:spcPts val="636"/>
        </a:spcBef>
        <a:buFont typeface="Arial" panose="020B0604020202020204" pitchFamily="34" charset="0"/>
        <a:buChar char="•"/>
        <a:defRPr sz="2291" kern="1200">
          <a:solidFill>
            <a:schemeClr val="tx1"/>
          </a:solidFill>
          <a:latin typeface="+mn-lt"/>
          <a:ea typeface="+mn-ea"/>
          <a:cs typeface="+mn-cs"/>
        </a:defRPr>
      </a:lvl6pPr>
      <a:lvl7pPr marL="3782804" indent="-290985" algn="l" defTabSz="1163940" rtl="0" eaLnBrk="1" latinLnBrk="0" hangingPunct="1">
        <a:lnSpc>
          <a:spcPct val="90000"/>
        </a:lnSpc>
        <a:spcBef>
          <a:spcPts val="636"/>
        </a:spcBef>
        <a:buFont typeface="Arial" panose="020B0604020202020204" pitchFamily="34" charset="0"/>
        <a:buChar char="•"/>
        <a:defRPr sz="2291" kern="1200">
          <a:solidFill>
            <a:schemeClr val="tx1"/>
          </a:solidFill>
          <a:latin typeface="+mn-lt"/>
          <a:ea typeface="+mn-ea"/>
          <a:cs typeface="+mn-cs"/>
        </a:defRPr>
      </a:lvl7pPr>
      <a:lvl8pPr marL="4364774" indent="-290985" algn="l" defTabSz="1163940" rtl="0" eaLnBrk="1" latinLnBrk="0" hangingPunct="1">
        <a:lnSpc>
          <a:spcPct val="90000"/>
        </a:lnSpc>
        <a:spcBef>
          <a:spcPts val="636"/>
        </a:spcBef>
        <a:buFont typeface="Arial" panose="020B0604020202020204" pitchFamily="34" charset="0"/>
        <a:buChar char="•"/>
        <a:defRPr sz="2291" kern="1200">
          <a:solidFill>
            <a:schemeClr val="tx1"/>
          </a:solidFill>
          <a:latin typeface="+mn-lt"/>
          <a:ea typeface="+mn-ea"/>
          <a:cs typeface="+mn-cs"/>
        </a:defRPr>
      </a:lvl8pPr>
      <a:lvl9pPr marL="4946744" indent="-290985" algn="l" defTabSz="1163940" rtl="0" eaLnBrk="1" latinLnBrk="0" hangingPunct="1">
        <a:lnSpc>
          <a:spcPct val="90000"/>
        </a:lnSpc>
        <a:spcBef>
          <a:spcPts val="636"/>
        </a:spcBef>
        <a:buFont typeface="Arial" panose="020B0604020202020204" pitchFamily="34" charset="0"/>
        <a:buChar char="•"/>
        <a:defRPr sz="229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63940" rtl="0" eaLnBrk="1" latinLnBrk="0" hangingPunct="1">
        <a:defRPr sz="2291" kern="1200">
          <a:solidFill>
            <a:schemeClr val="tx1"/>
          </a:solidFill>
          <a:latin typeface="+mn-lt"/>
          <a:ea typeface="+mn-ea"/>
          <a:cs typeface="+mn-cs"/>
        </a:defRPr>
      </a:lvl1pPr>
      <a:lvl2pPr marL="581970" algn="l" defTabSz="1163940" rtl="0" eaLnBrk="1" latinLnBrk="0" hangingPunct="1">
        <a:defRPr sz="2291" kern="1200">
          <a:solidFill>
            <a:schemeClr val="tx1"/>
          </a:solidFill>
          <a:latin typeface="+mn-lt"/>
          <a:ea typeface="+mn-ea"/>
          <a:cs typeface="+mn-cs"/>
        </a:defRPr>
      </a:lvl2pPr>
      <a:lvl3pPr marL="1163940" algn="l" defTabSz="1163940" rtl="0" eaLnBrk="1" latinLnBrk="0" hangingPunct="1">
        <a:defRPr sz="2291" kern="1200">
          <a:solidFill>
            <a:schemeClr val="tx1"/>
          </a:solidFill>
          <a:latin typeface="+mn-lt"/>
          <a:ea typeface="+mn-ea"/>
          <a:cs typeface="+mn-cs"/>
        </a:defRPr>
      </a:lvl3pPr>
      <a:lvl4pPr marL="1745910" algn="l" defTabSz="1163940" rtl="0" eaLnBrk="1" latinLnBrk="0" hangingPunct="1">
        <a:defRPr sz="2291" kern="1200">
          <a:solidFill>
            <a:schemeClr val="tx1"/>
          </a:solidFill>
          <a:latin typeface="+mn-lt"/>
          <a:ea typeface="+mn-ea"/>
          <a:cs typeface="+mn-cs"/>
        </a:defRPr>
      </a:lvl4pPr>
      <a:lvl5pPr marL="2327880" algn="l" defTabSz="1163940" rtl="0" eaLnBrk="1" latinLnBrk="0" hangingPunct="1">
        <a:defRPr sz="2291" kern="1200">
          <a:solidFill>
            <a:schemeClr val="tx1"/>
          </a:solidFill>
          <a:latin typeface="+mn-lt"/>
          <a:ea typeface="+mn-ea"/>
          <a:cs typeface="+mn-cs"/>
        </a:defRPr>
      </a:lvl5pPr>
      <a:lvl6pPr marL="2909849" algn="l" defTabSz="1163940" rtl="0" eaLnBrk="1" latinLnBrk="0" hangingPunct="1">
        <a:defRPr sz="2291" kern="1200">
          <a:solidFill>
            <a:schemeClr val="tx1"/>
          </a:solidFill>
          <a:latin typeface="+mn-lt"/>
          <a:ea typeface="+mn-ea"/>
          <a:cs typeface="+mn-cs"/>
        </a:defRPr>
      </a:lvl6pPr>
      <a:lvl7pPr marL="3491819" algn="l" defTabSz="1163940" rtl="0" eaLnBrk="1" latinLnBrk="0" hangingPunct="1">
        <a:defRPr sz="2291" kern="1200">
          <a:solidFill>
            <a:schemeClr val="tx1"/>
          </a:solidFill>
          <a:latin typeface="+mn-lt"/>
          <a:ea typeface="+mn-ea"/>
          <a:cs typeface="+mn-cs"/>
        </a:defRPr>
      </a:lvl7pPr>
      <a:lvl8pPr marL="4073789" algn="l" defTabSz="1163940" rtl="0" eaLnBrk="1" latinLnBrk="0" hangingPunct="1">
        <a:defRPr sz="2291" kern="1200">
          <a:solidFill>
            <a:schemeClr val="tx1"/>
          </a:solidFill>
          <a:latin typeface="+mn-lt"/>
          <a:ea typeface="+mn-ea"/>
          <a:cs typeface="+mn-cs"/>
        </a:defRPr>
      </a:lvl8pPr>
      <a:lvl9pPr marL="4655759" algn="l" defTabSz="1163940" rtl="0" eaLnBrk="1" latinLnBrk="0" hangingPunct="1">
        <a:defRPr sz="22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svg"/><Relationship Id="rId34" Type="http://schemas.openxmlformats.org/officeDocument/2006/relationships/image" Target="../media/image33.svg"/><Relationship Id="rId42" Type="http://schemas.openxmlformats.org/officeDocument/2006/relationships/image" Target="../media/image41.png"/><Relationship Id="rId47" Type="http://schemas.openxmlformats.org/officeDocument/2006/relationships/image" Target="../media/image46.svg"/><Relationship Id="rId50" Type="http://schemas.openxmlformats.org/officeDocument/2006/relationships/image" Target="../media/image49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sv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svg"/><Relationship Id="rId53" Type="http://schemas.openxmlformats.org/officeDocument/2006/relationships/image" Target="../media/image52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31" Type="http://schemas.openxmlformats.org/officeDocument/2006/relationships/image" Target="../media/image30.svg"/><Relationship Id="rId44" Type="http://schemas.openxmlformats.org/officeDocument/2006/relationships/image" Target="../media/image43.png"/><Relationship Id="rId52" Type="http://schemas.openxmlformats.org/officeDocument/2006/relationships/image" Target="../media/image51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svg"/><Relationship Id="rId48" Type="http://schemas.openxmlformats.org/officeDocument/2006/relationships/image" Target="../media/image47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3" Type="http://schemas.openxmlformats.org/officeDocument/2006/relationships/image" Target="../media/image2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svg"/><Relationship Id="rId34" Type="http://schemas.openxmlformats.org/officeDocument/2006/relationships/image" Target="../media/image33.svg"/><Relationship Id="rId42" Type="http://schemas.openxmlformats.org/officeDocument/2006/relationships/image" Target="../media/image41.png"/><Relationship Id="rId47" Type="http://schemas.openxmlformats.org/officeDocument/2006/relationships/image" Target="../media/image55.svg"/><Relationship Id="rId50" Type="http://schemas.openxmlformats.org/officeDocument/2006/relationships/image" Target="../media/image49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sv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svg"/><Relationship Id="rId53" Type="http://schemas.openxmlformats.org/officeDocument/2006/relationships/image" Target="../media/image52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31" Type="http://schemas.openxmlformats.org/officeDocument/2006/relationships/image" Target="../media/image30.svg"/><Relationship Id="rId44" Type="http://schemas.openxmlformats.org/officeDocument/2006/relationships/image" Target="../media/image43.png"/><Relationship Id="rId52" Type="http://schemas.openxmlformats.org/officeDocument/2006/relationships/image" Target="../media/image51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svg"/><Relationship Id="rId48" Type="http://schemas.openxmlformats.org/officeDocument/2006/relationships/image" Target="../media/image47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3" Type="http://schemas.openxmlformats.org/officeDocument/2006/relationships/image" Target="../media/image2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54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36" Type="http://schemas.openxmlformats.org/officeDocument/2006/relationships/image" Target="../media/image35.svg"/><Relationship Id="rId49" Type="http://schemas.openxmlformats.org/officeDocument/2006/relationships/image" Target="../media/image4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AE0D0743-C5DA-B103-327C-14162A6A8B90}"/>
              </a:ext>
            </a:extLst>
          </p:cNvPr>
          <p:cNvSpPr/>
          <p:nvPr/>
        </p:nvSpPr>
        <p:spPr>
          <a:xfrm>
            <a:off x="6909527" y="2720884"/>
            <a:ext cx="2127931" cy="988413"/>
          </a:xfrm>
          <a:prstGeom prst="rect">
            <a:avLst/>
          </a:prstGeom>
          <a:solidFill>
            <a:srgbClr val="0078D4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 descr="AZ group border">
            <a:extLst>
              <a:ext uri="{FF2B5EF4-FFF2-40B4-BE49-F238E27FC236}">
                <a16:creationId xmlns:a16="http://schemas.microsoft.com/office/drawing/2014/main" id="{32344587-373B-5ED4-4D87-3B0445EC2534}"/>
              </a:ext>
            </a:extLst>
          </p:cNvPr>
          <p:cNvSpPr/>
          <p:nvPr/>
        </p:nvSpPr>
        <p:spPr>
          <a:xfrm>
            <a:off x="6763629" y="2611100"/>
            <a:ext cx="4795348" cy="3204505"/>
          </a:xfrm>
          <a:prstGeom prst="rect">
            <a:avLst/>
          </a:prstGeom>
          <a:noFill/>
          <a:ln w="15875">
            <a:solidFill>
              <a:srgbClr val="0078D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endParaRPr lang="en-US" sz="12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542BDEA-39FE-FE39-C9B2-C13A1C68A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4273" y="5602550"/>
            <a:ext cx="144000" cy="144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EB2A177-D206-5427-15EE-51DC6ACE6D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22006" y="2832002"/>
            <a:ext cx="216000" cy="2160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DCD1D83-9F44-CFAC-4DD0-4A09DBAC57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944837" y="3035088"/>
            <a:ext cx="360000" cy="3600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BA0A4416-705F-80A8-EEDC-25A177BABB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58884" y="3035088"/>
            <a:ext cx="360000" cy="3600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38C9E385-2DC2-21A1-268C-A26497B5016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47844" y="2761840"/>
            <a:ext cx="144000" cy="14400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6A943A06-1150-C34E-2E80-CB7756784C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62724" y="3035088"/>
            <a:ext cx="360000" cy="3600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D4C2564E-AB94-BF8D-267F-3B004091DBC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947844" y="3516836"/>
            <a:ext cx="144000" cy="14400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7133802F-E150-CB3E-4245-577827DCA02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050749" y="6785121"/>
            <a:ext cx="360000" cy="3600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300511DB-6BF4-236D-7B92-8F353DC9459E}"/>
              </a:ext>
            </a:extLst>
          </p:cNvPr>
          <p:cNvSpPr txBox="1"/>
          <p:nvPr/>
        </p:nvSpPr>
        <p:spPr>
          <a:xfrm>
            <a:off x="7894972" y="3369733"/>
            <a:ext cx="8451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Container App</a:t>
            </a:r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785781C0-A35B-4604-588C-B46BC97C021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032174" y="1071556"/>
            <a:ext cx="360000" cy="36000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D83593C2-6B76-39E1-2967-6E01EFFC451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392015" y="3022364"/>
            <a:ext cx="360000" cy="36000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43F66CB1-EFEB-3BA8-0D6B-9446F486A77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327739" y="6332744"/>
            <a:ext cx="360000" cy="360000"/>
          </a:xfrm>
          <a:prstGeom prst="rect">
            <a:avLst/>
          </a:prstGeom>
        </p:spPr>
      </p:pic>
      <p:sp>
        <p:nvSpPr>
          <p:cNvPr id="61" name="Rectangle 60" descr="AZ group border">
            <a:extLst>
              <a:ext uri="{FF2B5EF4-FFF2-40B4-BE49-F238E27FC236}">
                <a16:creationId xmlns:a16="http://schemas.microsoft.com/office/drawing/2014/main" id="{91B79E80-99FF-7ABD-144A-5AD430ECEC35}"/>
              </a:ext>
            </a:extLst>
          </p:cNvPr>
          <p:cNvSpPr/>
          <p:nvPr/>
        </p:nvSpPr>
        <p:spPr>
          <a:xfrm>
            <a:off x="1970370" y="3927999"/>
            <a:ext cx="3650645" cy="2585060"/>
          </a:xfrm>
          <a:prstGeom prst="rect">
            <a:avLst/>
          </a:prstGeom>
          <a:noFill/>
          <a:ln w="15875">
            <a:solidFill>
              <a:srgbClr val="0078D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endParaRPr lang="en-US" sz="12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 61" descr="AZ group border">
            <a:extLst>
              <a:ext uri="{FF2B5EF4-FFF2-40B4-BE49-F238E27FC236}">
                <a16:creationId xmlns:a16="http://schemas.microsoft.com/office/drawing/2014/main" id="{5C0BE887-7753-A9A3-A6A8-962B2BB92452}"/>
              </a:ext>
            </a:extLst>
          </p:cNvPr>
          <p:cNvSpPr/>
          <p:nvPr/>
        </p:nvSpPr>
        <p:spPr>
          <a:xfrm>
            <a:off x="1773507" y="2269395"/>
            <a:ext cx="4037647" cy="6143744"/>
          </a:xfrm>
          <a:prstGeom prst="rect">
            <a:avLst/>
          </a:prstGeom>
          <a:noFill/>
          <a:ln w="19050">
            <a:solidFill>
              <a:srgbClr val="0078D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endParaRPr lang="en-US" sz="12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Rectangle 62" descr="AZ group border">
            <a:extLst>
              <a:ext uri="{FF2B5EF4-FFF2-40B4-BE49-F238E27FC236}">
                <a16:creationId xmlns:a16="http://schemas.microsoft.com/office/drawing/2014/main" id="{5279C722-EC19-329A-F143-9E49ABB9BA02}"/>
              </a:ext>
            </a:extLst>
          </p:cNvPr>
          <p:cNvSpPr/>
          <p:nvPr/>
        </p:nvSpPr>
        <p:spPr>
          <a:xfrm>
            <a:off x="6561624" y="2271822"/>
            <a:ext cx="6097050" cy="6143751"/>
          </a:xfrm>
          <a:prstGeom prst="rect">
            <a:avLst/>
          </a:prstGeom>
          <a:noFill/>
          <a:ln w="19050">
            <a:solidFill>
              <a:srgbClr val="0078D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endParaRPr lang="en-US" sz="12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5" name="Graphic 64">
            <a:extLst>
              <a:ext uri="{FF2B5EF4-FFF2-40B4-BE49-F238E27FC236}">
                <a16:creationId xmlns:a16="http://schemas.microsoft.com/office/drawing/2014/main" id="{2E6E220D-BD9B-B5BF-7622-A1BED36B9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14752" y="5009612"/>
            <a:ext cx="144000" cy="144000"/>
          </a:xfrm>
          <a:prstGeom prst="rect">
            <a:avLst/>
          </a:prstGeom>
        </p:spPr>
      </p:pic>
      <p:sp>
        <p:nvSpPr>
          <p:cNvPr id="67" name="Rectangle 66" descr="AZ group border">
            <a:extLst>
              <a:ext uri="{FF2B5EF4-FFF2-40B4-BE49-F238E27FC236}">
                <a16:creationId xmlns:a16="http://schemas.microsoft.com/office/drawing/2014/main" id="{DE014D34-7AD9-335D-62D0-9AE7EB22D6B7}"/>
              </a:ext>
            </a:extLst>
          </p:cNvPr>
          <p:cNvSpPr/>
          <p:nvPr/>
        </p:nvSpPr>
        <p:spPr>
          <a:xfrm>
            <a:off x="7667645" y="2795939"/>
            <a:ext cx="1290717" cy="815373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endParaRPr lang="en-US" sz="12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2A169468-798D-6FA5-2F1C-1AB4CCA7194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6981" y="3024882"/>
            <a:ext cx="360000" cy="357482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4B5A9778-6C10-F8A5-0CB9-15050D321A42}"/>
              </a:ext>
            </a:extLst>
          </p:cNvPr>
          <p:cNvSpPr/>
          <p:nvPr/>
        </p:nvSpPr>
        <p:spPr>
          <a:xfrm>
            <a:off x="9689122" y="2722992"/>
            <a:ext cx="1686631" cy="988413"/>
          </a:xfrm>
          <a:prstGeom prst="rect">
            <a:avLst/>
          </a:prstGeom>
          <a:solidFill>
            <a:srgbClr val="0078D4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F734ED83-6F8F-0947-3585-5DD5AD2D87B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27439" y="2763948"/>
            <a:ext cx="144000" cy="144000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0C2A40A3-45A8-3258-F652-BA76B733CE2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727439" y="3518944"/>
            <a:ext cx="144000" cy="144000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93947011-BCE4-71C4-2FB4-5C2A0161BDBC}"/>
              </a:ext>
            </a:extLst>
          </p:cNvPr>
          <p:cNvSpPr txBox="1"/>
          <p:nvPr/>
        </p:nvSpPr>
        <p:spPr>
          <a:xfrm>
            <a:off x="10044476" y="3369733"/>
            <a:ext cx="10631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Postgres Database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B8EF9C2E-90F6-CBC6-C33D-849406AF46F6}"/>
              </a:ext>
            </a:extLst>
          </p:cNvPr>
          <p:cNvCxnSpPr>
            <a:cxnSpLocks/>
          </p:cNvCxnSpPr>
          <p:nvPr/>
        </p:nvCxnSpPr>
        <p:spPr>
          <a:xfrm>
            <a:off x="8635725" y="3222133"/>
            <a:ext cx="1665450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ABF66971-5F09-1482-D438-6D1CFCFB245A}"/>
              </a:ext>
            </a:extLst>
          </p:cNvPr>
          <p:cNvSpPr/>
          <p:nvPr/>
        </p:nvSpPr>
        <p:spPr>
          <a:xfrm>
            <a:off x="8443356" y="4607344"/>
            <a:ext cx="2127931" cy="837286"/>
          </a:xfrm>
          <a:prstGeom prst="rect">
            <a:avLst/>
          </a:prstGeom>
          <a:solidFill>
            <a:srgbClr val="0078D4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6" name="Graphic 95">
            <a:extLst>
              <a:ext uri="{FF2B5EF4-FFF2-40B4-BE49-F238E27FC236}">
                <a16:creationId xmlns:a16="http://schemas.microsoft.com/office/drawing/2014/main" id="{98E11DD7-1471-3551-B7F9-CEC96D6023D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81673" y="4648301"/>
            <a:ext cx="144000" cy="144000"/>
          </a:xfrm>
          <a:prstGeom prst="rect">
            <a:avLst/>
          </a:prstGeom>
        </p:spPr>
      </p:pic>
      <p:pic>
        <p:nvPicPr>
          <p:cNvPr id="97" name="Graphic 96">
            <a:extLst>
              <a:ext uri="{FF2B5EF4-FFF2-40B4-BE49-F238E27FC236}">
                <a16:creationId xmlns:a16="http://schemas.microsoft.com/office/drawing/2014/main" id="{B322A79B-74BC-3B87-549F-24183024EBE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81673" y="5246654"/>
            <a:ext cx="144000" cy="144000"/>
          </a:xfrm>
          <a:prstGeom prst="rect">
            <a:avLst/>
          </a:prstGeom>
        </p:spPr>
      </p:pic>
      <p:pic>
        <p:nvPicPr>
          <p:cNvPr id="98" name="Graphic 97">
            <a:extLst>
              <a:ext uri="{FF2B5EF4-FFF2-40B4-BE49-F238E27FC236}">
                <a16:creationId xmlns:a16="http://schemas.microsoft.com/office/drawing/2014/main" id="{3DB0B02C-07E9-D832-F8B7-C29165D4A06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330500" y="4739578"/>
            <a:ext cx="360000" cy="360000"/>
          </a:xfrm>
          <a:prstGeom prst="rect">
            <a:avLst/>
          </a:prstGeom>
        </p:spPr>
      </p:pic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5427FCF9-1195-36F8-E759-56BEFEB843C0}"/>
              </a:ext>
            </a:extLst>
          </p:cNvPr>
          <p:cNvCxnSpPr>
            <a:cxnSpLocks/>
            <a:endCxn id="152" idx="2"/>
          </p:cNvCxnSpPr>
          <p:nvPr/>
        </p:nvCxnSpPr>
        <p:spPr>
          <a:xfrm flipV="1">
            <a:off x="9507320" y="5316978"/>
            <a:ext cx="1324" cy="934382"/>
          </a:xfrm>
          <a:prstGeom prst="straightConnector1">
            <a:avLst/>
          </a:prstGeom>
          <a:ln w="12700"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8" name="Picture 107">
            <a:extLst>
              <a:ext uri="{FF2B5EF4-FFF2-40B4-BE49-F238E27FC236}">
                <a16:creationId xmlns:a16="http://schemas.microsoft.com/office/drawing/2014/main" id="{26C5384C-8390-1B85-147E-35BF64B56A0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257390" y="2809076"/>
            <a:ext cx="272533" cy="351101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42F76C19-8AF7-7094-FA76-8C0B8FE8AA26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126031" y="3027454"/>
            <a:ext cx="360000" cy="360000"/>
          </a:xfrm>
          <a:prstGeom prst="rect">
            <a:avLst/>
          </a:prstGeom>
        </p:spPr>
      </p:pic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5C8D9344-AC9C-2E02-75EB-069198DCA6D7}"/>
              </a:ext>
            </a:extLst>
          </p:cNvPr>
          <p:cNvCxnSpPr>
            <a:cxnSpLocks/>
          </p:cNvCxnSpPr>
          <p:nvPr/>
        </p:nvCxnSpPr>
        <p:spPr>
          <a:xfrm>
            <a:off x="4797383" y="3221745"/>
            <a:ext cx="2294463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0F493049-5E10-B07C-8944-8D51A945E309}"/>
              </a:ext>
            </a:extLst>
          </p:cNvPr>
          <p:cNvSpPr txBox="1"/>
          <p:nvPr/>
        </p:nvSpPr>
        <p:spPr>
          <a:xfrm>
            <a:off x="4047785" y="3369733"/>
            <a:ext cx="9973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Front Door Profile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FD83FF4E-5E2C-2B2C-897D-7670E09230C9}"/>
              </a:ext>
            </a:extLst>
          </p:cNvPr>
          <p:cNvCxnSpPr>
            <a:cxnSpLocks/>
          </p:cNvCxnSpPr>
          <p:nvPr/>
        </p:nvCxnSpPr>
        <p:spPr>
          <a:xfrm>
            <a:off x="7563889" y="3221745"/>
            <a:ext cx="481166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356EE61C-9D8A-230B-3E61-1370584F58A8}"/>
              </a:ext>
            </a:extLst>
          </p:cNvPr>
          <p:cNvSpPr txBox="1"/>
          <p:nvPr/>
        </p:nvSpPr>
        <p:spPr>
          <a:xfrm>
            <a:off x="9064133" y="3218158"/>
            <a:ext cx="615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Managed</a:t>
            </a:r>
          </a:p>
          <a:p>
            <a:pPr algn="ctr"/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Identity</a:t>
            </a:r>
          </a:p>
        </p:txBody>
      </p:sp>
      <p:cxnSp>
        <p:nvCxnSpPr>
          <p:cNvPr id="121" name="Elbow Connector 120">
            <a:extLst>
              <a:ext uri="{FF2B5EF4-FFF2-40B4-BE49-F238E27FC236}">
                <a16:creationId xmlns:a16="http://schemas.microsoft.com/office/drawing/2014/main" id="{2FE6B816-AB0C-04CA-95E0-5B0245A03B36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34602" y="3527806"/>
            <a:ext cx="1152000" cy="1195200"/>
          </a:xfrm>
          <a:prstGeom prst="bentConnector3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4" name="Picture 123">
            <a:extLst>
              <a:ext uri="{FF2B5EF4-FFF2-40B4-BE49-F238E27FC236}">
                <a16:creationId xmlns:a16="http://schemas.microsoft.com/office/drawing/2014/main" id="{5A598B56-DAE3-04B2-0721-9E78AFBFE71F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627772" y="4039927"/>
            <a:ext cx="273852" cy="352800"/>
          </a:xfrm>
          <a:prstGeom prst="rect">
            <a:avLst/>
          </a:prstGeom>
        </p:spPr>
      </p:pic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1B5BA241-5DF3-E17D-BB37-F7FB8F309F2D}"/>
              </a:ext>
            </a:extLst>
          </p:cNvPr>
          <p:cNvCxnSpPr>
            <a:cxnSpLocks/>
          </p:cNvCxnSpPr>
          <p:nvPr/>
        </p:nvCxnSpPr>
        <p:spPr>
          <a:xfrm>
            <a:off x="3640871" y="3222133"/>
            <a:ext cx="605422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6CC18453-C8F3-7F8E-E128-8212497227B3}"/>
              </a:ext>
            </a:extLst>
          </p:cNvPr>
          <p:cNvSpPr txBox="1"/>
          <p:nvPr/>
        </p:nvSpPr>
        <p:spPr>
          <a:xfrm>
            <a:off x="2903545" y="3370573"/>
            <a:ext cx="9300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Web Application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Firewall Policies</a:t>
            </a: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C8EB5A56-E2A1-3825-E930-5A45D04CA2C7}"/>
              </a:ext>
            </a:extLst>
          </p:cNvPr>
          <p:cNvCxnSpPr>
            <a:cxnSpLocks/>
          </p:cNvCxnSpPr>
          <p:nvPr/>
        </p:nvCxnSpPr>
        <p:spPr>
          <a:xfrm>
            <a:off x="925961" y="3222133"/>
            <a:ext cx="2151647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8FFFBAA4-A12E-B603-9066-D8E2BDF9F6DC}"/>
              </a:ext>
            </a:extLst>
          </p:cNvPr>
          <p:cNvSpPr txBox="1"/>
          <p:nvPr/>
        </p:nvSpPr>
        <p:spPr>
          <a:xfrm>
            <a:off x="9087000" y="6720326"/>
            <a:ext cx="8402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App Key Vault</a:t>
            </a:r>
          </a:p>
        </p:txBody>
      </p:sp>
      <p:pic>
        <p:nvPicPr>
          <p:cNvPr id="137" name="Graphic 136">
            <a:extLst>
              <a:ext uri="{FF2B5EF4-FFF2-40B4-BE49-F238E27FC236}">
                <a16:creationId xmlns:a16="http://schemas.microsoft.com/office/drawing/2014/main" id="{0E2A0F67-37FE-6E0C-D533-E196FC0F8C2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077637" y="6334536"/>
            <a:ext cx="360000" cy="360000"/>
          </a:xfrm>
          <a:prstGeom prst="rect">
            <a:avLst/>
          </a:prstGeom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711E72A5-B75E-8D43-2BE2-712F36865BC0}"/>
              </a:ext>
            </a:extLst>
          </p:cNvPr>
          <p:cNvSpPr txBox="1"/>
          <p:nvPr/>
        </p:nvSpPr>
        <p:spPr>
          <a:xfrm>
            <a:off x="6868787" y="6720326"/>
            <a:ext cx="8627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Infra Key Vault</a:t>
            </a:r>
          </a:p>
        </p:txBody>
      </p:sp>
      <p:sp>
        <p:nvSpPr>
          <p:cNvPr id="143" name="Left Brace 142">
            <a:extLst>
              <a:ext uri="{FF2B5EF4-FFF2-40B4-BE49-F238E27FC236}">
                <a16:creationId xmlns:a16="http://schemas.microsoft.com/office/drawing/2014/main" id="{793C5178-C5EB-72F5-557E-18CCF53E77A7}"/>
              </a:ext>
            </a:extLst>
          </p:cNvPr>
          <p:cNvSpPr/>
          <p:nvPr/>
        </p:nvSpPr>
        <p:spPr>
          <a:xfrm rot="16200000">
            <a:off x="8171926" y="5527120"/>
            <a:ext cx="458697" cy="3276000"/>
          </a:xfrm>
          <a:prstGeom prst="leftBrace">
            <a:avLst>
              <a:gd name="adj1" fmla="val 0"/>
              <a:gd name="adj2" fmla="val 50000"/>
            </a:avLst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CDFA698-17B7-5FFC-5423-77557C1B6DDE}"/>
              </a:ext>
            </a:extLst>
          </p:cNvPr>
          <p:cNvSpPr txBox="1"/>
          <p:nvPr/>
        </p:nvSpPr>
        <p:spPr>
          <a:xfrm>
            <a:off x="7770439" y="7421552"/>
            <a:ext cx="12554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Public Access Disabled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06EA4861-E4C8-F410-3D02-903DDE7061C8}"/>
              </a:ext>
            </a:extLst>
          </p:cNvPr>
          <p:cNvSpPr txBox="1"/>
          <p:nvPr/>
        </p:nvSpPr>
        <p:spPr>
          <a:xfrm>
            <a:off x="9147006" y="5101534"/>
            <a:ext cx="7232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Private Link</a:t>
            </a:r>
          </a:p>
        </p:txBody>
      </p: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3BFD4BCA-3957-B760-DA19-91EB52B5C6E2}"/>
              </a:ext>
            </a:extLst>
          </p:cNvPr>
          <p:cNvGrpSpPr/>
          <p:nvPr/>
        </p:nvGrpSpPr>
        <p:grpSpPr>
          <a:xfrm>
            <a:off x="4909591" y="6772408"/>
            <a:ext cx="798617" cy="865251"/>
            <a:chOff x="2679187" y="4662674"/>
            <a:chExt cx="798617" cy="865251"/>
          </a:xfrm>
        </p:grpSpPr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290B44A4-97A4-9819-A05F-BE471C9ED4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2916068" y="4662674"/>
              <a:ext cx="360000" cy="360000"/>
            </a:xfrm>
            <a:prstGeom prst="rect">
              <a:avLst/>
            </a:prstGeom>
          </p:spPr>
        </p:pic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0D1F0E27-D91A-592D-F5F2-7C7990E61364}"/>
                </a:ext>
              </a:extLst>
            </p:cNvPr>
            <p:cNvSpPr txBox="1"/>
            <p:nvPr/>
          </p:nvSpPr>
          <p:spPr>
            <a:xfrm>
              <a:off x="2679187" y="5066260"/>
              <a:ext cx="79861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Log Analytics</a:t>
              </a:r>
              <a:b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Workspace</a:t>
              </a:r>
              <a:b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(Per Env.)</a:t>
              </a:r>
            </a:p>
          </p:txBody>
        </p:sp>
      </p:grpSp>
      <p:sp>
        <p:nvSpPr>
          <p:cNvPr id="161" name="TextBox 160">
            <a:extLst>
              <a:ext uri="{FF2B5EF4-FFF2-40B4-BE49-F238E27FC236}">
                <a16:creationId xmlns:a16="http://schemas.microsoft.com/office/drawing/2014/main" id="{4886C0C9-0EC7-0FFF-F935-7E70233347B3}"/>
              </a:ext>
            </a:extLst>
          </p:cNvPr>
          <p:cNvSpPr txBox="1"/>
          <p:nvPr/>
        </p:nvSpPr>
        <p:spPr>
          <a:xfrm>
            <a:off x="9881785" y="4062847"/>
            <a:ext cx="615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Managed</a:t>
            </a:r>
          </a:p>
          <a:p>
            <a:pPr algn="ctr"/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Identity</a:t>
            </a:r>
          </a:p>
        </p:txBody>
      </p: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8673BEFC-1F32-D2EC-2008-511989E4D517}"/>
              </a:ext>
            </a:extLst>
          </p:cNvPr>
          <p:cNvGrpSpPr/>
          <p:nvPr/>
        </p:nvGrpSpPr>
        <p:grpSpPr>
          <a:xfrm>
            <a:off x="4284996" y="6772024"/>
            <a:ext cx="689612" cy="865634"/>
            <a:chOff x="3949702" y="4662291"/>
            <a:chExt cx="689612" cy="865634"/>
          </a:xfrm>
        </p:grpSpPr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A3EB2212-0752-D817-99CB-5CAA0A5441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4117887" y="4662291"/>
              <a:ext cx="360000" cy="360000"/>
            </a:xfrm>
            <a:prstGeom prst="rect">
              <a:avLst/>
            </a:prstGeom>
          </p:spPr>
        </p:pic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E8BB115D-DAB4-100B-F5AB-B73B24F4E4AD}"/>
                </a:ext>
              </a:extLst>
            </p:cNvPr>
            <p:cNvSpPr txBox="1"/>
            <p:nvPr/>
          </p:nvSpPr>
          <p:spPr>
            <a:xfrm>
              <a:off x="3949702" y="5066260"/>
              <a:ext cx="6896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Application</a:t>
              </a:r>
              <a:b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Insights</a:t>
              </a:r>
              <a:b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(Per Env.)</a:t>
              </a:r>
            </a:p>
          </p:txBody>
        </p:sp>
      </p:grpSp>
      <p:sp>
        <p:nvSpPr>
          <p:cNvPr id="173" name="TextBox 172">
            <a:extLst>
              <a:ext uri="{FF2B5EF4-FFF2-40B4-BE49-F238E27FC236}">
                <a16:creationId xmlns:a16="http://schemas.microsoft.com/office/drawing/2014/main" id="{2A4297EA-6374-BF3E-BB9D-DFB29CE5C185}"/>
              </a:ext>
            </a:extLst>
          </p:cNvPr>
          <p:cNvSpPr txBox="1"/>
          <p:nvPr/>
        </p:nvSpPr>
        <p:spPr>
          <a:xfrm>
            <a:off x="11740591" y="3369733"/>
            <a:ext cx="7938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Backup Vault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A4696067-B76A-53A2-811F-5DBFAFEC3DB4}"/>
              </a:ext>
            </a:extLst>
          </p:cNvPr>
          <p:cNvCxnSpPr>
            <a:cxnSpLocks/>
          </p:cNvCxnSpPr>
          <p:nvPr/>
        </p:nvCxnSpPr>
        <p:spPr>
          <a:xfrm>
            <a:off x="10843375" y="3234182"/>
            <a:ext cx="1002007" cy="0"/>
          </a:xfrm>
          <a:prstGeom prst="straightConnector1">
            <a:avLst/>
          </a:prstGeom>
          <a:ln w="12700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8" name="Picture 187">
            <a:extLst>
              <a:ext uri="{FF2B5EF4-FFF2-40B4-BE49-F238E27FC236}">
                <a16:creationId xmlns:a16="http://schemas.microsoft.com/office/drawing/2014/main" id="{DB13A4DF-F228-7BE3-5E03-42DDED40E28C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641562" y="2343612"/>
            <a:ext cx="95127" cy="144000"/>
          </a:xfrm>
          <a:prstGeom prst="rect">
            <a:avLst/>
          </a:prstGeom>
        </p:spPr>
      </p:pic>
      <p:pic>
        <p:nvPicPr>
          <p:cNvPr id="189" name="Picture 188">
            <a:extLst>
              <a:ext uri="{FF2B5EF4-FFF2-40B4-BE49-F238E27FC236}">
                <a16:creationId xmlns:a16="http://schemas.microsoft.com/office/drawing/2014/main" id="{D9C4C405-B2A6-E56B-3C4C-ABB8157F87B5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842045" y="2343612"/>
            <a:ext cx="95127" cy="144000"/>
          </a:xfrm>
          <a:prstGeom prst="rect">
            <a:avLst/>
          </a:prstGeom>
        </p:spPr>
      </p:pic>
      <p:sp>
        <p:nvSpPr>
          <p:cNvPr id="191" name="TextBox 190">
            <a:extLst>
              <a:ext uri="{FF2B5EF4-FFF2-40B4-BE49-F238E27FC236}">
                <a16:creationId xmlns:a16="http://schemas.microsoft.com/office/drawing/2014/main" id="{F254C84E-28BA-3D0A-43BD-F05598E3D4A8}"/>
              </a:ext>
            </a:extLst>
          </p:cNvPr>
          <p:cNvSpPr txBox="1"/>
          <p:nvPr/>
        </p:nvSpPr>
        <p:spPr>
          <a:xfrm>
            <a:off x="1901480" y="2310592"/>
            <a:ext cx="27222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Hub Azure Subscription For Shared Resources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E53F58F0-B167-4DAB-FF44-BF7B95268565}"/>
              </a:ext>
            </a:extLst>
          </p:cNvPr>
          <p:cNvSpPr txBox="1"/>
          <p:nvPr/>
        </p:nvSpPr>
        <p:spPr>
          <a:xfrm>
            <a:off x="6722507" y="2304470"/>
            <a:ext cx="18469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Per Environment Azure Subscription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67A1AB6C-7927-C5C1-2669-798B5E1DD472}"/>
              </a:ext>
            </a:extLst>
          </p:cNvPr>
          <p:cNvSpPr txBox="1"/>
          <p:nvPr/>
        </p:nvSpPr>
        <p:spPr>
          <a:xfrm>
            <a:off x="9827900" y="2728634"/>
            <a:ext cx="12779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Network Security Group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63D2C35F-7F3A-C239-36E0-F9CAED3A0043}"/>
              </a:ext>
            </a:extLst>
          </p:cNvPr>
          <p:cNvSpPr txBox="1"/>
          <p:nvPr/>
        </p:nvSpPr>
        <p:spPr>
          <a:xfrm>
            <a:off x="6927153" y="5572215"/>
            <a:ext cx="8819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Virtual Network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9FC831E6-E59C-794F-69C5-9C3E560F3CEF}"/>
              </a:ext>
            </a:extLst>
          </p:cNvPr>
          <p:cNvSpPr txBox="1"/>
          <p:nvPr/>
        </p:nvSpPr>
        <p:spPr>
          <a:xfrm>
            <a:off x="8591909" y="5216278"/>
            <a:ext cx="5132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Subnet</a:t>
            </a:r>
          </a:p>
        </p:txBody>
      </p:sp>
      <p:pic>
        <p:nvPicPr>
          <p:cNvPr id="198" name="Graphic 197">
            <a:extLst>
              <a:ext uri="{FF2B5EF4-FFF2-40B4-BE49-F238E27FC236}">
                <a16:creationId xmlns:a16="http://schemas.microsoft.com/office/drawing/2014/main" id="{DE9D86BE-5801-06C7-9B1E-16B1DCCBD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7899" y="6281695"/>
            <a:ext cx="144000" cy="144000"/>
          </a:xfrm>
          <a:prstGeom prst="rect">
            <a:avLst/>
          </a:prstGeom>
        </p:spPr>
      </p:pic>
      <p:sp>
        <p:nvSpPr>
          <p:cNvPr id="199" name="TextBox 198">
            <a:extLst>
              <a:ext uri="{FF2B5EF4-FFF2-40B4-BE49-F238E27FC236}">
                <a16:creationId xmlns:a16="http://schemas.microsoft.com/office/drawing/2014/main" id="{E5CB54B8-C01F-9D87-70D9-51D7798B459E}"/>
              </a:ext>
            </a:extLst>
          </p:cNvPr>
          <p:cNvSpPr txBox="1"/>
          <p:nvPr/>
        </p:nvSpPr>
        <p:spPr>
          <a:xfrm>
            <a:off x="2130779" y="6251360"/>
            <a:ext cx="8819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Virtual Network</a:t>
            </a:r>
          </a:p>
        </p:txBody>
      </p: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85C24F4D-323E-A331-F3B9-3389D2161264}"/>
              </a:ext>
            </a:extLst>
          </p:cNvPr>
          <p:cNvCxnSpPr>
            <a:cxnSpLocks/>
          </p:cNvCxnSpPr>
          <p:nvPr/>
        </p:nvCxnSpPr>
        <p:spPr>
          <a:xfrm>
            <a:off x="5621013" y="5195204"/>
            <a:ext cx="1142616" cy="0"/>
          </a:xfrm>
          <a:prstGeom prst="straightConnector1">
            <a:avLst/>
          </a:prstGeom>
          <a:ln>
            <a:solidFill>
              <a:srgbClr val="0078D4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6D40876B-E052-D809-F463-927F207174F1}"/>
              </a:ext>
            </a:extLst>
          </p:cNvPr>
          <p:cNvSpPr txBox="1"/>
          <p:nvPr/>
        </p:nvSpPr>
        <p:spPr>
          <a:xfrm>
            <a:off x="6031088" y="4979760"/>
            <a:ext cx="5405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Peering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12102D1-A036-4EFB-70A5-E35D70E5C834}"/>
              </a:ext>
            </a:extLst>
          </p:cNvPr>
          <p:cNvSpPr txBox="1"/>
          <p:nvPr/>
        </p:nvSpPr>
        <p:spPr>
          <a:xfrm>
            <a:off x="1854717" y="7190683"/>
            <a:ext cx="7104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Public DNS</a:t>
            </a:r>
          </a:p>
        </p:txBody>
      </p: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25F97E9C-F22D-039D-2709-E601ADD26C2E}"/>
              </a:ext>
            </a:extLst>
          </p:cNvPr>
          <p:cNvGrpSpPr/>
          <p:nvPr/>
        </p:nvGrpSpPr>
        <p:grpSpPr>
          <a:xfrm>
            <a:off x="3293985" y="4048572"/>
            <a:ext cx="1032371" cy="988413"/>
            <a:chOff x="3794400" y="1938837"/>
            <a:chExt cx="1032371" cy="988413"/>
          </a:xfrm>
        </p:grpSpPr>
        <p:pic>
          <p:nvPicPr>
            <p:cNvPr id="194" name="Graphic 193">
              <a:extLst>
                <a:ext uri="{FF2B5EF4-FFF2-40B4-BE49-F238E27FC236}">
                  <a16:creationId xmlns:a16="http://schemas.microsoft.com/office/drawing/2014/main" id="{D04D8FD8-3BF6-B8EE-BCBD-24388F562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4138510" y="2073022"/>
              <a:ext cx="360000" cy="360000"/>
            </a:xfrm>
            <a:prstGeom prst="rect">
              <a:avLst/>
            </a:prstGeom>
          </p:spPr>
        </p:pic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D6857E84-324B-548E-DB09-5351057C5F88}"/>
                </a:ext>
              </a:extLst>
            </p:cNvPr>
            <p:cNvSpPr/>
            <p:nvPr/>
          </p:nvSpPr>
          <p:spPr>
            <a:xfrm>
              <a:off x="3794400" y="1938837"/>
              <a:ext cx="1032371" cy="988413"/>
            </a:xfrm>
            <a:prstGeom prst="rect">
              <a:avLst/>
            </a:prstGeom>
            <a:solidFill>
              <a:srgbClr val="0078D4">
                <a:alpha val="1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33" name="Graphic 232">
              <a:extLst>
                <a:ext uri="{FF2B5EF4-FFF2-40B4-BE49-F238E27FC236}">
                  <a16:creationId xmlns:a16="http://schemas.microsoft.com/office/drawing/2014/main" id="{69AC7154-4021-A909-9BA3-461BB9655A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832719" y="1979795"/>
              <a:ext cx="144000" cy="144000"/>
            </a:xfrm>
            <a:prstGeom prst="rect">
              <a:avLst/>
            </a:prstGeom>
          </p:spPr>
        </p:pic>
        <p:pic>
          <p:nvPicPr>
            <p:cNvPr id="234" name="Graphic 233">
              <a:extLst>
                <a:ext uri="{FF2B5EF4-FFF2-40B4-BE49-F238E27FC236}">
                  <a16:creationId xmlns:a16="http://schemas.microsoft.com/office/drawing/2014/main" id="{3319F691-2087-2619-F622-E4E94ACD07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832719" y="2734791"/>
              <a:ext cx="144000" cy="144000"/>
            </a:xfrm>
            <a:prstGeom prst="rect">
              <a:avLst/>
            </a:prstGeom>
          </p:spPr>
        </p:pic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C3DBDF64-96E0-D7CE-E81C-103677E4A906}"/>
                </a:ext>
              </a:extLst>
            </p:cNvPr>
            <p:cNvSpPr txBox="1"/>
            <p:nvPr/>
          </p:nvSpPr>
          <p:spPr>
            <a:xfrm>
              <a:off x="3949340" y="2472846"/>
              <a:ext cx="7505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Private DNS</a:t>
              </a:r>
            </a:p>
            <a:p>
              <a:pPr algn="ctr"/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Resolver</a:t>
              </a:r>
            </a:p>
          </p:txBody>
        </p:sp>
      </p:grpSp>
      <p:pic>
        <p:nvPicPr>
          <p:cNvPr id="242" name="Graphic 241">
            <a:extLst>
              <a:ext uri="{FF2B5EF4-FFF2-40B4-BE49-F238E27FC236}">
                <a16:creationId xmlns:a16="http://schemas.microsoft.com/office/drawing/2014/main" id="{C8C445FD-7E71-FCDC-D3D6-C0C70372402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665035" y="6785121"/>
            <a:ext cx="360000" cy="360000"/>
          </a:xfrm>
          <a:prstGeom prst="rect">
            <a:avLst/>
          </a:prstGeom>
        </p:spPr>
      </p:pic>
      <p:sp>
        <p:nvSpPr>
          <p:cNvPr id="243" name="TextBox 242">
            <a:extLst>
              <a:ext uri="{FF2B5EF4-FFF2-40B4-BE49-F238E27FC236}">
                <a16:creationId xmlns:a16="http://schemas.microsoft.com/office/drawing/2014/main" id="{5AD8CC25-56CD-927D-A925-85C062645213}"/>
              </a:ext>
            </a:extLst>
          </p:cNvPr>
          <p:cNvSpPr txBox="1"/>
          <p:nvPr/>
        </p:nvSpPr>
        <p:spPr>
          <a:xfrm>
            <a:off x="2469001" y="7190683"/>
            <a:ext cx="7505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Private DNS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6C4960F7-6BB2-A69D-56E3-DA09C6AF1828}"/>
              </a:ext>
            </a:extLst>
          </p:cNvPr>
          <p:cNvGrpSpPr/>
          <p:nvPr/>
        </p:nvGrpSpPr>
        <p:grpSpPr>
          <a:xfrm>
            <a:off x="3292391" y="5191335"/>
            <a:ext cx="1032371" cy="988413"/>
            <a:chOff x="2512106" y="1938837"/>
            <a:chExt cx="1032371" cy="988413"/>
          </a:xfrm>
        </p:grpSpPr>
        <p:pic>
          <p:nvPicPr>
            <p:cNvPr id="51" name="Graphic 50">
              <a:extLst>
                <a:ext uri="{FF2B5EF4-FFF2-40B4-BE49-F238E27FC236}">
                  <a16:creationId xmlns:a16="http://schemas.microsoft.com/office/drawing/2014/main" id="{8F1A39AD-230B-58E6-93A6-87DAF244D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2828791" y="2084400"/>
              <a:ext cx="360000" cy="360000"/>
            </a:xfrm>
            <a:prstGeom prst="rect">
              <a:avLst/>
            </a:prstGeom>
          </p:spPr>
        </p:pic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6146A6FE-6977-1B2F-9D36-9EB6DF20EEFF}"/>
                </a:ext>
              </a:extLst>
            </p:cNvPr>
            <p:cNvSpPr/>
            <p:nvPr/>
          </p:nvSpPr>
          <p:spPr>
            <a:xfrm>
              <a:off x="2512106" y="1938837"/>
              <a:ext cx="1032371" cy="988413"/>
            </a:xfrm>
            <a:prstGeom prst="rect">
              <a:avLst/>
            </a:prstGeom>
            <a:solidFill>
              <a:srgbClr val="0078D4">
                <a:alpha val="1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51" name="Graphic 250">
              <a:extLst>
                <a:ext uri="{FF2B5EF4-FFF2-40B4-BE49-F238E27FC236}">
                  <a16:creationId xmlns:a16="http://schemas.microsoft.com/office/drawing/2014/main" id="{45AC84DE-0C3F-9E0B-CB63-B04BFDE86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550425" y="1979795"/>
              <a:ext cx="144000" cy="144000"/>
            </a:xfrm>
            <a:prstGeom prst="rect">
              <a:avLst/>
            </a:prstGeom>
          </p:spPr>
        </p:pic>
        <p:pic>
          <p:nvPicPr>
            <p:cNvPr id="252" name="Graphic 251">
              <a:extLst>
                <a:ext uri="{FF2B5EF4-FFF2-40B4-BE49-F238E27FC236}">
                  <a16:creationId xmlns:a16="http://schemas.microsoft.com/office/drawing/2014/main" id="{7B1D599E-DE54-98C6-B66C-830724C6C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550425" y="2734791"/>
              <a:ext cx="144000" cy="144000"/>
            </a:xfrm>
            <a:prstGeom prst="rect">
              <a:avLst/>
            </a:prstGeom>
          </p:spPr>
        </p:pic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8832BEE3-763E-BC71-2CDC-C7224B87BF71}"/>
                </a:ext>
              </a:extLst>
            </p:cNvPr>
            <p:cNvSpPr txBox="1"/>
            <p:nvPr/>
          </p:nvSpPr>
          <p:spPr>
            <a:xfrm>
              <a:off x="2517258" y="2472846"/>
              <a:ext cx="10166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Managed DevOps</a:t>
              </a:r>
              <a:b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Pool</a:t>
              </a:r>
            </a:p>
          </p:txBody>
        </p: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9BBBF390-4D2F-4138-22CB-08C541B76810}"/>
              </a:ext>
            </a:extLst>
          </p:cNvPr>
          <p:cNvGrpSpPr/>
          <p:nvPr/>
        </p:nvGrpSpPr>
        <p:grpSpPr>
          <a:xfrm>
            <a:off x="2113185" y="4048572"/>
            <a:ext cx="1032371" cy="988413"/>
            <a:chOff x="3691663" y="1940342"/>
            <a:chExt cx="1032371" cy="988413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BE354653-F2E3-5703-5991-B003EA312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4017566" y="2084400"/>
              <a:ext cx="360000" cy="360000"/>
            </a:xfrm>
            <a:prstGeom prst="rect">
              <a:avLst/>
            </a:prstGeom>
          </p:spPr>
        </p:pic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EED538B4-D626-5784-A7BC-3E9EDFA810D3}"/>
                </a:ext>
              </a:extLst>
            </p:cNvPr>
            <p:cNvSpPr/>
            <p:nvPr/>
          </p:nvSpPr>
          <p:spPr>
            <a:xfrm>
              <a:off x="3691663" y="1940342"/>
              <a:ext cx="1032371" cy="988413"/>
            </a:xfrm>
            <a:prstGeom prst="rect">
              <a:avLst/>
            </a:prstGeom>
            <a:solidFill>
              <a:srgbClr val="0078D4">
                <a:alpha val="1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56" name="Graphic 255">
              <a:extLst>
                <a:ext uri="{FF2B5EF4-FFF2-40B4-BE49-F238E27FC236}">
                  <a16:creationId xmlns:a16="http://schemas.microsoft.com/office/drawing/2014/main" id="{200A05B5-C096-575D-059E-C79E7EC29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729982" y="1981300"/>
              <a:ext cx="144000" cy="144000"/>
            </a:xfrm>
            <a:prstGeom prst="rect">
              <a:avLst/>
            </a:prstGeom>
          </p:spPr>
        </p:pic>
        <p:pic>
          <p:nvPicPr>
            <p:cNvPr id="257" name="Graphic 256">
              <a:extLst>
                <a:ext uri="{FF2B5EF4-FFF2-40B4-BE49-F238E27FC236}">
                  <a16:creationId xmlns:a16="http://schemas.microsoft.com/office/drawing/2014/main" id="{F9DF3642-E75A-7AE7-88E2-393ED61F6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729982" y="2736296"/>
              <a:ext cx="144000" cy="144000"/>
            </a:xfrm>
            <a:prstGeom prst="rect">
              <a:avLst/>
            </a:prstGeom>
          </p:spPr>
        </p:pic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98B4C0C3-879D-73A0-BD47-34A8F216C2D9}"/>
                </a:ext>
              </a:extLst>
            </p:cNvPr>
            <p:cNvSpPr txBox="1"/>
            <p:nvPr/>
          </p:nvSpPr>
          <p:spPr>
            <a:xfrm>
              <a:off x="3817844" y="2474351"/>
              <a:ext cx="7745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Azure Virtual</a:t>
              </a:r>
            </a:p>
            <a:p>
              <a:pPr algn="ctr"/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Desktop</a:t>
              </a:r>
            </a:p>
          </p:txBody>
        </p: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E88262DF-909D-DF85-CA68-7173184D42E3}"/>
              </a:ext>
            </a:extLst>
          </p:cNvPr>
          <p:cNvGrpSpPr/>
          <p:nvPr/>
        </p:nvGrpSpPr>
        <p:grpSpPr>
          <a:xfrm>
            <a:off x="2113185" y="5192811"/>
            <a:ext cx="1032371" cy="988413"/>
            <a:chOff x="1323983" y="3093963"/>
            <a:chExt cx="1032371" cy="988413"/>
          </a:xfrm>
        </p:grpSpPr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F52CF72B-A3F8-7C17-A515-1A0CE0874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1677594" y="3241202"/>
              <a:ext cx="360000" cy="360000"/>
            </a:xfrm>
            <a:prstGeom prst="rect">
              <a:avLst/>
            </a:prstGeom>
          </p:spPr>
        </p:pic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7627B1DA-E2A7-0284-A948-6667EA38EEBD}"/>
                </a:ext>
              </a:extLst>
            </p:cNvPr>
            <p:cNvSpPr/>
            <p:nvPr/>
          </p:nvSpPr>
          <p:spPr>
            <a:xfrm>
              <a:off x="1323983" y="3093963"/>
              <a:ext cx="1032371" cy="988413"/>
            </a:xfrm>
            <a:prstGeom prst="rect">
              <a:avLst/>
            </a:prstGeom>
            <a:solidFill>
              <a:srgbClr val="0078D4">
                <a:alpha val="1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65" name="Graphic 264">
              <a:extLst>
                <a:ext uri="{FF2B5EF4-FFF2-40B4-BE49-F238E27FC236}">
                  <a16:creationId xmlns:a16="http://schemas.microsoft.com/office/drawing/2014/main" id="{1117EBE7-9240-1920-5582-8E7F538E4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362302" y="3134921"/>
              <a:ext cx="144000" cy="144000"/>
            </a:xfrm>
            <a:prstGeom prst="rect">
              <a:avLst/>
            </a:prstGeom>
          </p:spPr>
        </p:pic>
        <p:pic>
          <p:nvPicPr>
            <p:cNvPr id="266" name="Graphic 265">
              <a:extLst>
                <a:ext uri="{FF2B5EF4-FFF2-40B4-BE49-F238E27FC236}">
                  <a16:creationId xmlns:a16="http://schemas.microsoft.com/office/drawing/2014/main" id="{27CCE222-37D8-6A14-6DCA-57740F798C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362302" y="3889917"/>
              <a:ext cx="144000" cy="144000"/>
            </a:xfrm>
            <a:prstGeom prst="rect">
              <a:avLst/>
            </a:prstGeom>
          </p:spPr>
        </p:pic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BCBCCB2B-903D-E460-6472-F530D0D1D0D5}"/>
                </a:ext>
              </a:extLst>
            </p:cNvPr>
            <p:cNvSpPr txBox="1"/>
            <p:nvPr/>
          </p:nvSpPr>
          <p:spPr>
            <a:xfrm>
              <a:off x="1430106" y="3627972"/>
              <a:ext cx="83548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Azure Firewall</a:t>
              </a:r>
            </a:p>
          </p:txBody>
        </p:sp>
      </p:grp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9A3B154D-24E0-BA6C-929A-5E89DD7F1263}"/>
              </a:ext>
            </a:extLst>
          </p:cNvPr>
          <p:cNvCxnSpPr>
            <a:cxnSpLocks/>
          </p:cNvCxnSpPr>
          <p:nvPr/>
        </p:nvCxnSpPr>
        <p:spPr>
          <a:xfrm flipH="1">
            <a:off x="925961" y="5551259"/>
            <a:ext cx="1427133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TextBox 278">
            <a:extLst>
              <a:ext uri="{FF2B5EF4-FFF2-40B4-BE49-F238E27FC236}">
                <a16:creationId xmlns:a16="http://schemas.microsoft.com/office/drawing/2014/main" id="{69015514-12F5-8933-3EF2-6BFE4F8438AD}"/>
              </a:ext>
            </a:extLst>
          </p:cNvPr>
          <p:cNvSpPr txBox="1"/>
          <p:nvPr/>
        </p:nvSpPr>
        <p:spPr>
          <a:xfrm>
            <a:off x="1119194" y="5313962"/>
            <a:ext cx="647934" cy="438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All Egress</a:t>
            </a:r>
            <a:b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Traffic</a:t>
            </a:r>
          </a:p>
        </p:txBody>
      </p: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11709A77-B30F-0828-AAF5-B6626F639430}"/>
              </a:ext>
            </a:extLst>
          </p:cNvPr>
          <p:cNvGrpSpPr/>
          <p:nvPr/>
        </p:nvGrpSpPr>
        <p:grpSpPr>
          <a:xfrm>
            <a:off x="4396659" y="4050135"/>
            <a:ext cx="1175323" cy="988413"/>
            <a:chOff x="3719874" y="3083076"/>
            <a:chExt cx="1175323" cy="988413"/>
          </a:xfrm>
        </p:grpSpPr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078CC915-97B2-590E-C786-D12FC58F4908}"/>
                </a:ext>
              </a:extLst>
            </p:cNvPr>
            <p:cNvSpPr/>
            <p:nvPr/>
          </p:nvSpPr>
          <p:spPr>
            <a:xfrm>
              <a:off x="3794070" y="3083076"/>
              <a:ext cx="1032371" cy="988413"/>
            </a:xfrm>
            <a:prstGeom prst="rect">
              <a:avLst/>
            </a:prstGeom>
            <a:solidFill>
              <a:srgbClr val="0078D4">
                <a:alpha val="1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69" name="Graphic 268">
              <a:extLst>
                <a:ext uri="{FF2B5EF4-FFF2-40B4-BE49-F238E27FC236}">
                  <a16:creationId xmlns:a16="http://schemas.microsoft.com/office/drawing/2014/main" id="{3E1A9FF3-E18D-F8A2-9383-01EE43CDF1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832389" y="3124034"/>
              <a:ext cx="144000" cy="144000"/>
            </a:xfrm>
            <a:prstGeom prst="rect">
              <a:avLst/>
            </a:prstGeom>
          </p:spPr>
        </p:pic>
        <p:pic>
          <p:nvPicPr>
            <p:cNvPr id="270" name="Graphic 269">
              <a:extLst>
                <a:ext uri="{FF2B5EF4-FFF2-40B4-BE49-F238E27FC236}">
                  <a16:creationId xmlns:a16="http://schemas.microsoft.com/office/drawing/2014/main" id="{FFEE4716-1464-CCD8-6E2F-9A06044564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832389" y="3879030"/>
              <a:ext cx="144000" cy="144000"/>
            </a:xfrm>
            <a:prstGeom prst="rect">
              <a:avLst/>
            </a:prstGeom>
          </p:spPr>
        </p:pic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B3EC46DF-2E7F-8251-E43B-E60D6EECFA9A}"/>
                </a:ext>
              </a:extLst>
            </p:cNvPr>
            <p:cNvSpPr txBox="1"/>
            <p:nvPr/>
          </p:nvSpPr>
          <p:spPr>
            <a:xfrm>
              <a:off x="3719874" y="3617085"/>
              <a:ext cx="117532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Azure Monitor Private</a:t>
              </a:r>
              <a:b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Link Scope</a:t>
              </a:r>
            </a:p>
          </p:txBody>
        </p:sp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F13BD55A-A259-EF12-50F6-3A81DF09B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4193158" y="3219130"/>
              <a:ext cx="241678" cy="360000"/>
            </a:xfrm>
            <a:prstGeom prst="rect">
              <a:avLst/>
            </a:prstGeom>
          </p:spPr>
        </p:pic>
      </p:grp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5ED8C533-7A3A-7F6E-D500-54C9ACEC373F}"/>
              </a:ext>
            </a:extLst>
          </p:cNvPr>
          <p:cNvGrpSpPr/>
          <p:nvPr/>
        </p:nvGrpSpPr>
        <p:grpSpPr>
          <a:xfrm>
            <a:off x="399921" y="3024688"/>
            <a:ext cx="401072" cy="560491"/>
            <a:chOff x="193404" y="914953"/>
            <a:chExt cx="401072" cy="560491"/>
          </a:xfrm>
        </p:grpSpPr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C9554113-5271-ACFC-D475-9AA7601452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212468" y="914953"/>
              <a:ext cx="360000" cy="360000"/>
            </a:xfrm>
            <a:prstGeom prst="rect">
              <a:avLst/>
            </a:prstGeom>
          </p:spPr>
        </p:pic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E361637C-7328-26A2-1E20-7D9A72E39C35}"/>
                </a:ext>
              </a:extLst>
            </p:cNvPr>
            <p:cNvSpPr txBox="1"/>
            <p:nvPr/>
          </p:nvSpPr>
          <p:spPr>
            <a:xfrm>
              <a:off x="193404" y="1260000"/>
              <a:ext cx="4010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User</a:t>
              </a:r>
            </a:p>
          </p:txBody>
        </p:sp>
      </p:grpSp>
      <p:cxnSp>
        <p:nvCxnSpPr>
          <p:cNvPr id="298" name="Elbow Connector 297">
            <a:extLst>
              <a:ext uri="{FF2B5EF4-FFF2-40B4-BE49-F238E27FC236}">
                <a16:creationId xmlns:a16="http://schemas.microsoft.com/office/drawing/2014/main" id="{DF109F24-3FF3-86DB-F9F1-3D84F411B3F2}"/>
              </a:ext>
            </a:extLst>
          </p:cNvPr>
          <p:cNvCxnSpPr>
            <a:cxnSpLocks/>
          </p:cNvCxnSpPr>
          <p:nvPr/>
        </p:nvCxnSpPr>
        <p:spPr>
          <a:xfrm rot="5400000">
            <a:off x="6202055" y="2613093"/>
            <a:ext cx="774000" cy="2772000"/>
          </a:xfrm>
          <a:prstGeom prst="bentConnector2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8" name="TextBox 307">
            <a:extLst>
              <a:ext uri="{FF2B5EF4-FFF2-40B4-BE49-F238E27FC236}">
                <a16:creationId xmlns:a16="http://schemas.microsoft.com/office/drawing/2014/main" id="{EA5FA1E8-400D-FDA0-1B1C-8A61146BFFAF}"/>
              </a:ext>
            </a:extLst>
          </p:cNvPr>
          <p:cNvSpPr txBox="1"/>
          <p:nvPr/>
        </p:nvSpPr>
        <p:spPr>
          <a:xfrm>
            <a:off x="6764980" y="4139432"/>
            <a:ext cx="1451512" cy="438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Application Logs</a:t>
            </a:r>
          </a:p>
          <a:p>
            <a:pPr algn="ctr">
              <a:lnSpc>
                <a:spcPct val="150000"/>
              </a:lnSpc>
            </a:pP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&amp; Metrics</a:t>
            </a: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0BD0972C-D7B3-B473-266B-7BEAE06C9BEC}"/>
              </a:ext>
            </a:extLst>
          </p:cNvPr>
          <p:cNvSpPr txBox="1"/>
          <p:nvPr/>
        </p:nvSpPr>
        <p:spPr>
          <a:xfrm>
            <a:off x="7893988" y="2815301"/>
            <a:ext cx="10807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Container App Env.</a:t>
            </a:r>
          </a:p>
        </p:txBody>
      </p:sp>
      <p:pic>
        <p:nvPicPr>
          <p:cNvPr id="313" name="Graphic 312">
            <a:extLst>
              <a:ext uri="{FF2B5EF4-FFF2-40B4-BE49-F238E27FC236}">
                <a16:creationId xmlns:a16="http://schemas.microsoft.com/office/drawing/2014/main" id="{CCC48ED2-C3FD-4DFB-9EF3-81E542EF2E41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419469" y="4182615"/>
            <a:ext cx="360000" cy="360000"/>
          </a:xfrm>
          <a:prstGeom prst="rect">
            <a:avLst/>
          </a:prstGeom>
        </p:spPr>
      </p:pic>
      <p:sp>
        <p:nvSpPr>
          <p:cNvPr id="314" name="TextBox 313">
            <a:extLst>
              <a:ext uri="{FF2B5EF4-FFF2-40B4-BE49-F238E27FC236}">
                <a16:creationId xmlns:a16="http://schemas.microsoft.com/office/drawing/2014/main" id="{F1C16100-BC16-D549-A1A1-F7E3E1634BCA}"/>
              </a:ext>
            </a:extLst>
          </p:cNvPr>
          <p:cNvSpPr txBox="1"/>
          <p:nvPr/>
        </p:nvSpPr>
        <p:spPr>
          <a:xfrm>
            <a:off x="65143" y="4527662"/>
            <a:ext cx="1056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Developer Solution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Access</a:t>
            </a:r>
          </a:p>
        </p:txBody>
      </p:sp>
      <p:cxnSp>
        <p:nvCxnSpPr>
          <p:cNvPr id="315" name="Straight Arrow Connector 314">
            <a:extLst>
              <a:ext uri="{FF2B5EF4-FFF2-40B4-BE49-F238E27FC236}">
                <a16:creationId xmlns:a16="http://schemas.microsoft.com/office/drawing/2014/main" id="{1B34CD3E-C003-709C-601F-DA118286485E}"/>
              </a:ext>
            </a:extLst>
          </p:cNvPr>
          <p:cNvCxnSpPr>
            <a:cxnSpLocks/>
          </p:cNvCxnSpPr>
          <p:nvPr/>
        </p:nvCxnSpPr>
        <p:spPr>
          <a:xfrm>
            <a:off x="925961" y="4419725"/>
            <a:ext cx="1427133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7" name="Graphic 326">
            <a:extLst>
              <a:ext uri="{FF2B5EF4-FFF2-40B4-BE49-F238E27FC236}">
                <a16:creationId xmlns:a16="http://schemas.microsoft.com/office/drawing/2014/main" id="{A4963904-D440-19FD-058C-FEBE9615FFEC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3458029" y="6808212"/>
            <a:ext cx="360000" cy="360000"/>
          </a:xfrm>
          <a:prstGeom prst="rect">
            <a:avLst/>
          </a:prstGeom>
        </p:spPr>
      </p:pic>
      <p:sp>
        <p:nvSpPr>
          <p:cNvPr id="328" name="TextBox 327">
            <a:extLst>
              <a:ext uri="{FF2B5EF4-FFF2-40B4-BE49-F238E27FC236}">
                <a16:creationId xmlns:a16="http://schemas.microsoft.com/office/drawing/2014/main" id="{90503B1B-59A7-BE57-6588-59411ECAAD31}"/>
              </a:ext>
            </a:extLst>
          </p:cNvPr>
          <p:cNvSpPr txBox="1"/>
          <p:nvPr/>
        </p:nvSpPr>
        <p:spPr>
          <a:xfrm>
            <a:off x="3140755" y="7194000"/>
            <a:ext cx="9733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Storage Account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(Terraform State)</a:t>
            </a:r>
          </a:p>
        </p:txBody>
      </p:sp>
      <p:pic>
        <p:nvPicPr>
          <p:cNvPr id="330" name="Graphic 329">
            <a:extLst>
              <a:ext uri="{FF2B5EF4-FFF2-40B4-BE49-F238E27FC236}">
                <a16:creationId xmlns:a16="http://schemas.microsoft.com/office/drawing/2014/main" id="{0A6EFE4C-EBBF-C65D-389B-7C19580E6CCD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2809656" y="699847"/>
            <a:ext cx="360000" cy="360000"/>
          </a:xfrm>
          <a:prstGeom prst="rect">
            <a:avLst/>
          </a:prstGeom>
        </p:spPr>
      </p:pic>
      <p:sp>
        <p:nvSpPr>
          <p:cNvPr id="331" name="TextBox 330">
            <a:extLst>
              <a:ext uri="{FF2B5EF4-FFF2-40B4-BE49-F238E27FC236}">
                <a16:creationId xmlns:a16="http://schemas.microsoft.com/office/drawing/2014/main" id="{905DBF62-39AC-B7D4-289D-369005227C31}"/>
              </a:ext>
            </a:extLst>
          </p:cNvPr>
          <p:cNvSpPr txBox="1"/>
          <p:nvPr/>
        </p:nvSpPr>
        <p:spPr>
          <a:xfrm>
            <a:off x="2471433" y="1092143"/>
            <a:ext cx="10262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GitHub Repository</a:t>
            </a:r>
          </a:p>
        </p:txBody>
      </p:sp>
      <p:pic>
        <p:nvPicPr>
          <p:cNvPr id="336" name="Graphic 335">
            <a:extLst>
              <a:ext uri="{FF2B5EF4-FFF2-40B4-BE49-F238E27FC236}">
                <a16:creationId xmlns:a16="http://schemas.microsoft.com/office/drawing/2014/main" id="{0E59FE7C-78CC-7545-8F7F-5A68DC996531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6018094" y="281126"/>
            <a:ext cx="360000" cy="360000"/>
          </a:xfrm>
          <a:prstGeom prst="rect">
            <a:avLst/>
          </a:prstGeom>
        </p:spPr>
      </p:pic>
      <p:cxnSp>
        <p:nvCxnSpPr>
          <p:cNvPr id="338" name="Elbow Connector 337">
            <a:extLst>
              <a:ext uri="{FF2B5EF4-FFF2-40B4-BE49-F238E27FC236}">
                <a16:creationId xmlns:a16="http://schemas.microsoft.com/office/drawing/2014/main" id="{7F0603D3-67EF-B7CB-D31E-14591CA3EF24}"/>
              </a:ext>
            </a:extLst>
          </p:cNvPr>
          <p:cNvCxnSpPr>
            <a:cxnSpLocks/>
            <a:stCxn id="271" idx="2"/>
            <a:endCxn id="43" idx="0"/>
          </p:cNvCxnSpPr>
          <p:nvPr/>
        </p:nvCxnSpPr>
        <p:spPr>
          <a:xfrm rot="5400000">
            <a:off x="3884089" y="5671792"/>
            <a:ext cx="1849327" cy="351139"/>
          </a:xfrm>
          <a:prstGeom prst="bentConnector3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Elbow Connector 340">
            <a:extLst>
              <a:ext uri="{FF2B5EF4-FFF2-40B4-BE49-F238E27FC236}">
                <a16:creationId xmlns:a16="http://schemas.microsoft.com/office/drawing/2014/main" id="{6E28FC6B-F622-56F9-9AD6-D5DF4A219FCB}"/>
              </a:ext>
            </a:extLst>
          </p:cNvPr>
          <p:cNvCxnSpPr>
            <a:stCxn id="271" idx="2"/>
            <a:endCxn id="41" idx="0"/>
          </p:cNvCxnSpPr>
          <p:nvPr/>
        </p:nvCxnSpPr>
        <p:spPr>
          <a:xfrm rot="16200000" flipH="1">
            <a:off x="4230540" y="5676477"/>
            <a:ext cx="1849710" cy="342151"/>
          </a:xfrm>
          <a:prstGeom prst="bentConnector3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Left Brace 342">
            <a:extLst>
              <a:ext uri="{FF2B5EF4-FFF2-40B4-BE49-F238E27FC236}">
                <a16:creationId xmlns:a16="http://schemas.microsoft.com/office/drawing/2014/main" id="{C4D2B82B-27BA-459A-3EB3-AFEE4D328955}"/>
              </a:ext>
            </a:extLst>
          </p:cNvPr>
          <p:cNvSpPr/>
          <p:nvPr/>
        </p:nvSpPr>
        <p:spPr>
          <a:xfrm rot="16200000">
            <a:off x="4176158" y="6602805"/>
            <a:ext cx="458697" cy="2451600"/>
          </a:xfrm>
          <a:prstGeom prst="leftBrace">
            <a:avLst>
              <a:gd name="adj1" fmla="val 0"/>
              <a:gd name="adj2" fmla="val 50000"/>
            </a:avLst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AF6BC292-875C-AF34-5BE7-81A8974BBF35}"/>
              </a:ext>
            </a:extLst>
          </p:cNvPr>
          <p:cNvSpPr txBox="1"/>
          <p:nvPr/>
        </p:nvSpPr>
        <p:spPr>
          <a:xfrm>
            <a:off x="3773990" y="8085037"/>
            <a:ext cx="12554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Public Access Disabled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B0C74ADC-0699-5914-7AC0-7207611E53FF}"/>
              </a:ext>
            </a:extLst>
          </p:cNvPr>
          <p:cNvSpPr txBox="1"/>
          <p:nvPr/>
        </p:nvSpPr>
        <p:spPr>
          <a:xfrm>
            <a:off x="5605112" y="691772"/>
            <a:ext cx="1225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GitHub Actions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Continuous Integration</a:t>
            </a: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627893DA-6C66-D46D-0B87-3B4B9D149BD1}"/>
              </a:ext>
            </a:extLst>
          </p:cNvPr>
          <p:cNvSpPr txBox="1"/>
          <p:nvPr/>
        </p:nvSpPr>
        <p:spPr>
          <a:xfrm>
            <a:off x="5217051" y="1484036"/>
            <a:ext cx="19175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Azure DevOps (Managed Agent Pool)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Continuous Deployment</a:t>
            </a:r>
          </a:p>
        </p:txBody>
      </p:sp>
      <p:cxnSp>
        <p:nvCxnSpPr>
          <p:cNvPr id="349" name="Elbow Connector 348">
            <a:extLst>
              <a:ext uri="{FF2B5EF4-FFF2-40B4-BE49-F238E27FC236}">
                <a16:creationId xmlns:a16="http://schemas.microsoft.com/office/drawing/2014/main" id="{015A50AE-EE03-1DCD-58F9-79C82EC4B73C}"/>
              </a:ext>
            </a:extLst>
          </p:cNvPr>
          <p:cNvCxnSpPr>
            <a:cxnSpLocks/>
          </p:cNvCxnSpPr>
          <p:nvPr/>
        </p:nvCxnSpPr>
        <p:spPr>
          <a:xfrm flipV="1">
            <a:off x="3226181" y="480603"/>
            <a:ext cx="2747669" cy="396000"/>
          </a:xfrm>
          <a:prstGeom prst="bentConnector3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Elbow Connector 350">
            <a:extLst>
              <a:ext uri="{FF2B5EF4-FFF2-40B4-BE49-F238E27FC236}">
                <a16:creationId xmlns:a16="http://schemas.microsoft.com/office/drawing/2014/main" id="{C5013AF5-C15A-FB7F-80EF-6141F74399E4}"/>
              </a:ext>
            </a:extLst>
          </p:cNvPr>
          <p:cNvCxnSpPr/>
          <p:nvPr/>
        </p:nvCxnSpPr>
        <p:spPr>
          <a:xfrm>
            <a:off x="3226181" y="876034"/>
            <a:ext cx="2746800" cy="396000"/>
          </a:xfrm>
          <a:prstGeom prst="bentConnector3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E71E5547-A66A-E622-6D82-F15443338366}"/>
              </a:ext>
            </a:extLst>
          </p:cNvPr>
          <p:cNvGrpSpPr/>
          <p:nvPr/>
        </p:nvGrpSpPr>
        <p:grpSpPr>
          <a:xfrm>
            <a:off x="271584" y="779601"/>
            <a:ext cx="654346" cy="560491"/>
            <a:chOff x="65388" y="914953"/>
            <a:chExt cx="654346" cy="560491"/>
          </a:xfrm>
        </p:grpSpPr>
        <p:pic>
          <p:nvPicPr>
            <p:cNvPr id="354" name="Graphic 353">
              <a:extLst>
                <a:ext uri="{FF2B5EF4-FFF2-40B4-BE49-F238E27FC236}">
                  <a16:creationId xmlns:a16="http://schemas.microsoft.com/office/drawing/2014/main" id="{01808BBF-FD30-6F64-F0D6-3A2345D831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212468" y="914953"/>
              <a:ext cx="360000" cy="360000"/>
            </a:xfrm>
            <a:prstGeom prst="rect">
              <a:avLst/>
            </a:prstGeom>
          </p:spPr>
        </p:pic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51DE6CD7-5698-1C30-A314-8FF21E62C9BB}"/>
                </a:ext>
              </a:extLst>
            </p:cNvPr>
            <p:cNvSpPr txBox="1"/>
            <p:nvPr/>
          </p:nvSpPr>
          <p:spPr>
            <a:xfrm>
              <a:off x="65388" y="1260000"/>
              <a:ext cx="6543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Developer</a:t>
              </a:r>
            </a:p>
          </p:txBody>
        </p:sp>
      </p:grpSp>
      <p:cxnSp>
        <p:nvCxnSpPr>
          <p:cNvPr id="356" name="Straight Arrow Connector 355">
            <a:extLst>
              <a:ext uri="{FF2B5EF4-FFF2-40B4-BE49-F238E27FC236}">
                <a16:creationId xmlns:a16="http://schemas.microsoft.com/office/drawing/2014/main" id="{D295B1B2-31D4-53F0-8ED3-A13E7253B333}"/>
              </a:ext>
            </a:extLst>
          </p:cNvPr>
          <p:cNvCxnSpPr>
            <a:cxnSpLocks/>
          </p:cNvCxnSpPr>
          <p:nvPr/>
        </p:nvCxnSpPr>
        <p:spPr>
          <a:xfrm>
            <a:off x="925200" y="875967"/>
            <a:ext cx="1827144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Left Brace 359">
            <a:extLst>
              <a:ext uri="{FF2B5EF4-FFF2-40B4-BE49-F238E27FC236}">
                <a16:creationId xmlns:a16="http://schemas.microsoft.com/office/drawing/2014/main" id="{E0BA79F5-3ED1-E232-A9CF-E1DEB6214BA5}"/>
              </a:ext>
            </a:extLst>
          </p:cNvPr>
          <p:cNvSpPr/>
          <p:nvPr/>
        </p:nvSpPr>
        <p:spPr>
          <a:xfrm rot="5400000" flipV="1">
            <a:off x="6057852" y="690030"/>
            <a:ext cx="251999" cy="2635200"/>
          </a:xfrm>
          <a:prstGeom prst="leftBrace">
            <a:avLst>
              <a:gd name="adj1" fmla="val 0"/>
              <a:gd name="adj2" fmla="val 50000"/>
            </a:avLst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4" name="Picture 363">
            <a:extLst>
              <a:ext uri="{FF2B5EF4-FFF2-40B4-BE49-F238E27FC236}">
                <a16:creationId xmlns:a16="http://schemas.microsoft.com/office/drawing/2014/main" id="{143E39BD-5EB0-0660-3F46-B3A92C83FA54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8093094" y="217051"/>
            <a:ext cx="433854" cy="432000"/>
          </a:xfrm>
          <a:prstGeom prst="rect">
            <a:avLst/>
          </a:prstGeom>
        </p:spPr>
      </p:pic>
      <p:cxnSp>
        <p:nvCxnSpPr>
          <p:cNvPr id="365" name="Straight Arrow Connector 364">
            <a:extLst>
              <a:ext uri="{FF2B5EF4-FFF2-40B4-BE49-F238E27FC236}">
                <a16:creationId xmlns:a16="http://schemas.microsoft.com/office/drawing/2014/main" id="{EAAAEA29-826A-47F7-989C-C8C6DA27BF5F}"/>
              </a:ext>
            </a:extLst>
          </p:cNvPr>
          <p:cNvCxnSpPr>
            <a:cxnSpLocks/>
          </p:cNvCxnSpPr>
          <p:nvPr/>
        </p:nvCxnSpPr>
        <p:spPr>
          <a:xfrm>
            <a:off x="6480175" y="481033"/>
            <a:ext cx="1564880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8" name="TextBox 367">
            <a:extLst>
              <a:ext uri="{FF2B5EF4-FFF2-40B4-BE49-F238E27FC236}">
                <a16:creationId xmlns:a16="http://schemas.microsoft.com/office/drawing/2014/main" id="{83906FCC-C63F-78E8-2FF2-583C262F79E3}"/>
              </a:ext>
            </a:extLst>
          </p:cNvPr>
          <p:cNvSpPr txBox="1"/>
          <p:nvPr/>
        </p:nvSpPr>
        <p:spPr>
          <a:xfrm>
            <a:off x="7824658" y="691893"/>
            <a:ext cx="9813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GitHub Container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Registry</a:t>
            </a:r>
          </a:p>
        </p:txBody>
      </p:sp>
      <p:cxnSp>
        <p:nvCxnSpPr>
          <p:cNvPr id="372" name="Straight Arrow Connector 371">
            <a:extLst>
              <a:ext uri="{FF2B5EF4-FFF2-40B4-BE49-F238E27FC236}">
                <a16:creationId xmlns:a16="http://schemas.microsoft.com/office/drawing/2014/main" id="{0F21D9CC-E71C-35E8-8CB4-432D1AD69F4C}"/>
              </a:ext>
            </a:extLst>
          </p:cNvPr>
          <p:cNvCxnSpPr>
            <a:cxnSpLocks/>
          </p:cNvCxnSpPr>
          <p:nvPr/>
        </p:nvCxnSpPr>
        <p:spPr>
          <a:xfrm>
            <a:off x="8315337" y="1075055"/>
            <a:ext cx="0" cy="180000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6" name="Graphic 375">
            <a:extLst>
              <a:ext uri="{FF2B5EF4-FFF2-40B4-BE49-F238E27FC236}">
                <a16:creationId xmlns:a16="http://schemas.microsoft.com/office/drawing/2014/main" id="{ED695FB7-BD4B-AB3E-9FDE-B880304EC24D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1299911" y="4007802"/>
            <a:ext cx="360000" cy="360000"/>
          </a:xfrm>
          <a:prstGeom prst="rect">
            <a:avLst/>
          </a:prstGeom>
        </p:spPr>
      </p:pic>
      <p:sp>
        <p:nvSpPr>
          <p:cNvPr id="378" name="TextBox 377">
            <a:extLst>
              <a:ext uri="{FF2B5EF4-FFF2-40B4-BE49-F238E27FC236}">
                <a16:creationId xmlns:a16="http://schemas.microsoft.com/office/drawing/2014/main" id="{4F3A2989-092E-0056-402B-EC2DA6F4EE14}"/>
              </a:ext>
            </a:extLst>
          </p:cNvPr>
          <p:cNvSpPr txBox="1"/>
          <p:nvPr/>
        </p:nvSpPr>
        <p:spPr>
          <a:xfrm>
            <a:off x="1137755" y="4423111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Entra ID</a:t>
            </a:r>
          </a:p>
          <a:p>
            <a:pPr algn="ctr"/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MFA Auth.</a:t>
            </a:r>
          </a:p>
        </p:txBody>
      </p:sp>
      <p:pic>
        <p:nvPicPr>
          <p:cNvPr id="380" name="Graphic 379">
            <a:extLst>
              <a:ext uri="{FF2B5EF4-FFF2-40B4-BE49-F238E27FC236}">
                <a16:creationId xmlns:a16="http://schemas.microsoft.com/office/drawing/2014/main" id="{0DD91288-AB6F-CDE0-34C7-F2C218FB36DE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5881556" y="1960085"/>
            <a:ext cx="574872" cy="574872"/>
          </a:xfrm>
          <a:prstGeom prst="rect">
            <a:avLst/>
          </a:prstGeom>
        </p:spPr>
      </p:pic>
      <p:sp>
        <p:nvSpPr>
          <p:cNvPr id="381" name="TextBox 380">
            <a:extLst>
              <a:ext uri="{FF2B5EF4-FFF2-40B4-BE49-F238E27FC236}">
                <a16:creationId xmlns:a16="http://schemas.microsoft.com/office/drawing/2014/main" id="{31333D4E-A724-4A35-A589-256EEB456F12}"/>
              </a:ext>
            </a:extLst>
          </p:cNvPr>
          <p:cNvSpPr txBox="1"/>
          <p:nvPr/>
        </p:nvSpPr>
        <p:spPr>
          <a:xfrm>
            <a:off x="5849131" y="2467341"/>
            <a:ext cx="6351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Terraform</a:t>
            </a:r>
          </a:p>
        </p:txBody>
      </p:sp>
    </p:spTree>
    <p:extLst>
      <p:ext uri="{BB962C8B-B14F-4D97-AF65-F5344CB8AC3E}">
        <p14:creationId xmlns:p14="http://schemas.microsoft.com/office/powerpoint/2010/main" val="3204287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2D0F69-888F-4B97-F98A-13AEE9733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DBAD40E1-FFE9-85AB-16EB-7385F241F6A8}"/>
              </a:ext>
            </a:extLst>
          </p:cNvPr>
          <p:cNvSpPr/>
          <p:nvPr/>
        </p:nvSpPr>
        <p:spPr>
          <a:xfrm>
            <a:off x="6909527" y="2720884"/>
            <a:ext cx="2127931" cy="988413"/>
          </a:xfrm>
          <a:prstGeom prst="rect">
            <a:avLst/>
          </a:prstGeom>
          <a:solidFill>
            <a:schemeClr val="tx2">
              <a:lumMod val="50000"/>
              <a:lumOff val="50000"/>
              <a:alpha val="4178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 descr="AZ group border">
            <a:extLst>
              <a:ext uri="{FF2B5EF4-FFF2-40B4-BE49-F238E27FC236}">
                <a16:creationId xmlns:a16="http://schemas.microsoft.com/office/drawing/2014/main" id="{D5340C93-3C8A-23E6-6194-68FB80C200D4}"/>
              </a:ext>
            </a:extLst>
          </p:cNvPr>
          <p:cNvSpPr/>
          <p:nvPr/>
        </p:nvSpPr>
        <p:spPr>
          <a:xfrm>
            <a:off x="6763629" y="2611100"/>
            <a:ext cx="4795348" cy="3204505"/>
          </a:xfrm>
          <a:prstGeom prst="rect">
            <a:avLst/>
          </a:prstGeom>
          <a:noFill/>
          <a:ln w="15875">
            <a:solidFill>
              <a:srgbClr val="0078D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endParaRPr lang="en-US" sz="12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05EEAB4-BCA5-0ED2-B848-451E7B415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4273" y="5602550"/>
            <a:ext cx="144000" cy="144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0668FAA-3E7B-C30A-BF6D-0E536AAA7B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22006" y="2832002"/>
            <a:ext cx="216000" cy="2160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3810B48-2CA7-6388-13BB-D2AE09B975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944837" y="3035088"/>
            <a:ext cx="360000" cy="3600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154122A5-0D26-15F4-9D3F-0FBA3FC7C4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58884" y="3035088"/>
            <a:ext cx="360000" cy="3600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17761576-8689-951A-CC8F-3CCB44548FE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47844" y="2761840"/>
            <a:ext cx="144000" cy="14400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D2995B6F-7C82-17E6-F7AA-5D19702EA3F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62724" y="3035088"/>
            <a:ext cx="360000" cy="3600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2E65FCDD-FB47-90D0-EA4D-30341A3928B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947844" y="3516836"/>
            <a:ext cx="144000" cy="14400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1757E015-4249-507B-F07E-ED2D0B3CA26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050749" y="6785121"/>
            <a:ext cx="360000" cy="3600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E440F7F6-E138-4F82-1914-897589B85449}"/>
              </a:ext>
            </a:extLst>
          </p:cNvPr>
          <p:cNvSpPr txBox="1"/>
          <p:nvPr/>
        </p:nvSpPr>
        <p:spPr>
          <a:xfrm>
            <a:off x="7894972" y="3369733"/>
            <a:ext cx="8451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Container App</a:t>
            </a:r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37B9F4F9-8E24-F247-5D0B-4604BA77B66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032174" y="1071556"/>
            <a:ext cx="360000" cy="36000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A5BAAF68-AD93-3A04-FF99-DF14C018C56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392015" y="3022364"/>
            <a:ext cx="360000" cy="36000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583D2186-7E86-F03D-99A7-E36AA246FEB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327739" y="6332744"/>
            <a:ext cx="360000" cy="360000"/>
          </a:xfrm>
          <a:prstGeom prst="rect">
            <a:avLst/>
          </a:prstGeom>
        </p:spPr>
      </p:pic>
      <p:sp>
        <p:nvSpPr>
          <p:cNvPr id="61" name="Rectangle 60" descr="AZ group border">
            <a:extLst>
              <a:ext uri="{FF2B5EF4-FFF2-40B4-BE49-F238E27FC236}">
                <a16:creationId xmlns:a16="http://schemas.microsoft.com/office/drawing/2014/main" id="{9455C219-D06E-193D-91BD-B21EDCAADE46}"/>
              </a:ext>
            </a:extLst>
          </p:cNvPr>
          <p:cNvSpPr/>
          <p:nvPr/>
        </p:nvSpPr>
        <p:spPr>
          <a:xfrm>
            <a:off x="1970370" y="3917843"/>
            <a:ext cx="3650645" cy="2595216"/>
          </a:xfrm>
          <a:prstGeom prst="rect">
            <a:avLst/>
          </a:prstGeom>
          <a:noFill/>
          <a:ln w="15875">
            <a:solidFill>
              <a:srgbClr val="0078D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endParaRPr lang="en-US" sz="12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 61" descr="AZ group border">
            <a:extLst>
              <a:ext uri="{FF2B5EF4-FFF2-40B4-BE49-F238E27FC236}">
                <a16:creationId xmlns:a16="http://schemas.microsoft.com/office/drawing/2014/main" id="{161ED06E-650C-4E7D-E46F-00636934104C}"/>
              </a:ext>
            </a:extLst>
          </p:cNvPr>
          <p:cNvSpPr/>
          <p:nvPr/>
        </p:nvSpPr>
        <p:spPr>
          <a:xfrm>
            <a:off x="1773507" y="2269395"/>
            <a:ext cx="4037647" cy="6143744"/>
          </a:xfrm>
          <a:prstGeom prst="rect">
            <a:avLst/>
          </a:prstGeom>
          <a:noFill/>
          <a:ln w="19050">
            <a:solidFill>
              <a:srgbClr val="0078D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endParaRPr lang="en-US" sz="12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Rectangle 62" descr="AZ group border">
            <a:extLst>
              <a:ext uri="{FF2B5EF4-FFF2-40B4-BE49-F238E27FC236}">
                <a16:creationId xmlns:a16="http://schemas.microsoft.com/office/drawing/2014/main" id="{D1E4AC13-2738-CBFA-ADBD-783D31EF1D2C}"/>
              </a:ext>
            </a:extLst>
          </p:cNvPr>
          <p:cNvSpPr/>
          <p:nvPr/>
        </p:nvSpPr>
        <p:spPr>
          <a:xfrm>
            <a:off x="6561624" y="2271822"/>
            <a:ext cx="6097050" cy="6143751"/>
          </a:xfrm>
          <a:prstGeom prst="rect">
            <a:avLst/>
          </a:prstGeom>
          <a:noFill/>
          <a:ln w="19050">
            <a:solidFill>
              <a:srgbClr val="0078D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endParaRPr lang="en-US" sz="12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5" name="Graphic 64">
            <a:extLst>
              <a:ext uri="{FF2B5EF4-FFF2-40B4-BE49-F238E27FC236}">
                <a16:creationId xmlns:a16="http://schemas.microsoft.com/office/drawing/2014/main" id="{540C57EE-8F69-7F94-C8AC-12C32DA0C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14752" y="5009612"/>
            <a:ext cx="144000" cy="144000"/>
          </a:xfrm>
          <a:prstGeom prst="rect">
            <a:avLst/>
          </a:prstGeom>
        </p:spPr>
      </p:pic>
      <p:sp>
        <p:nvSpPr>
          <p:cNvPr id="67" name="Rectangle 66" descr="AZ group border">
            <a:extLst>
              <a:ext uri="{FF2B5EF4-FFF2-40B4-BE49-F238E27FC236}">
                <a16:creationId xmlns:a16="http://schemas.microsoft.com/office/drawing/2014/main" id="{6BF51486-52A3-832A-868F-894157C9C0D4}"/>
              </a:ext>
            </a:extLst>
          </p:cNvPr>
          <p:cNvSpPr/>
          <p:nvPr/>
        </p:nvSpPr>
        <p:spPr>
          <a:xfrm>
            <a:off x="7667645" y="2795939"/>
            <a:ext cx="1290717" cy="815373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endParaRPr lang="en-US" sz="12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5B6B7FDA-6C92-A781-04CF-85FAF8A45DB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6981" y="3024882"/>
            <a:ext cx="360000" cy="357482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2A4C3A62-02B8-F758-5CE7-631818C4BA49}"/>
              </a:ext>
            </a:extLst>
          </p:cNvPr>
          <p:cNvSpPr/>
          <p:nvPr/>
        </p:nvSpPr>
        <p:spPr>
          <a:xfrm>
            <a:off x="9689122" y="2722992"/>
            <a:ext cx="1686631" cy="988413"/>
          </a:xfrm>
          <a:prstGeom prst="rect">
            <a:avLst/>
          </a:prstGeom>
          <a:solidFill>
            <a:schemeClr val="tx2">
              <a:lumMod val="50000"/>
              <a:lumOff val="50000"/>
              <a:alpha val="4178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D3FA1FE3-BCDE-B21A-6402-408461EA960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27439" y="2763948"/>
            <a:ext cx="144000" cy="144000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40507401-E021-4BD8-77A9-D93C5AB8E24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727439" y="3518944"/>
            <a:ext cx="144000" cy="144000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69CDCDA5-59FF-6830-3E72-F6A09CBCFE2F}"/>
              </a:ext>
            </a:extLst>
          </p:cNvPr>
          <p:cNvSpPr txBox="1"/>
          <p:nvPr/>
        </p:nvSpPr>
        <p:spPr>
          <a:xfrm>
            <a:off x="10044476" y="3369733"/>
            <a:ext cx="10631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Postgres Database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7CF28322-480B-2C1A-72F4-D00BC0846A2B}"/>
              </a:ext>
            </a:extLst>
          </p:cNvPr>
          <p:cNvCxnSpPr>
            <a:cxnSpLocks/>
          </p:cNvCxnSpPr>
          <p:nvPr/>
        </p:nvCxnSpPr>
        <p:spPr>
          <a:xfrm>
            <a:off x="8635725" y="3222133"/>
            <a:ext cx="1665450" cy="0"/>
          </a:xfrm>
          <a:prstGeom prst="straightConnector1">
            <a:avLst/>
          </a:prstGeom>
          <a:ln w="12700"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53AD515A-73D9-0D57-F7C1-26E30B05E25A}"/>
              </a:ext>
            </a:extLst>
          </p:cNvPr>
          <p:cNvSpPr/>
          <p:nvPr/>
        </p:nvSpPr>
        <p:spPr>
          <a:xfrm>
            <a:off x="8443356" y="4607344"/>
            <a:ext cx="2127931" cy="837286"/>
          </a:xfrm>
          <a:prstGeom prst="rect">
            <a:avLst/>
          </a:prstGeom>
          <a:solidFill>
            <a:schemeClr val="tx2">
              <a:lumMod val="50000"/>
              <a:lumOff val="50000"/>
              <a:alpha val="4178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6" name="Graphic 95">
            <a:extLst>
              <a:ext uri="{FF2B5EF4-FFF2-40B4-BE49-F238E27FC236}">
                <a16:creationId xmlns:a16="http://schemas.microsoft.com/office/drawing/2014/main" id="{33A55428-D148-5AE9-A569-34005691BD3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81673" y="4648301"/>
            <a:ext cx="144000" cy="144000"/>
          </a:xfrm>
          <a:prstGeom prst="rect">
            <a:avLst/>
          </a:prstGeom>
        </p:spPr>
      </p:pic>
      <p:pic>
        <p:nvPicPr>
          <p:cNvPr id="97" name="Graphic 96">
            <a:extLst>
              <a:ext uri="{FF2B5EF4-FFF2-40B4-BE49-F238E27FC236}">
                <a16:creationId xmlns:a16="http://schemas.microsoft.com/office/drawing/2014/main" id="{0E0C8EDE-80F0-369B-AC13-512D8E5CF12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81673" y="5246654"/>
            <a:ext cx="144000" cy="144000"/>
          </a:xfrm>
          <a:prstGeom prst="rect">
            <a:avLst/>
          </a:prstGeom>
        </p:spPr>
      </p:pic>
      <p:pic>
        <p:nvPicPr>
          <p:cNvPr id="98" name="Graphic 97">
            <a:extLst>
              <a:ext uri="{FF2B5EF4-FFF2-40B4-BE49-F238E27FC236}">
                <a16:creationId xmlns:a16="http://schemas.microsoft.com/office/drawing/2014/main" id="{EDAFB117-EA5B-4089-6399-DEB95E9DCAD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330500" y="4739578"/>
            <a:ext cx="360000" cy="360000"/>
          </a:xfrm>
          <a:prstGeom prst="rect">
            <a:avLst/>
          </a:prstGeom>
        </p:spPr>
      </p:pic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0CB1659-AA92-9576-C57F-67D7494F84DF}"/>
              </a:ext>
            </a:extLst>
          </p:cNvPr>
          <p:cNvCxnSpPr>
            <a:cxnSpLocks/>
            <a:endCxn id="152" idx="2"/>
          </p:cNvCxnSpPr>
          <p:nvPr/>
        </p:nvCxnSpPr>
        <p:spPr>
          <a:xfrm flipV="1">
            <a:off x="9507320" y="5316978"/>
            <a:ext cx="1324" cy="934382"/>
          </a:xfrm>
          <a:prstGeom prst="straightConnector1">
            <a:avLst/>
          </a:prstGeom>
          <a:ln w="12700">
            <a:solidFill>
              <a:schemeClr val="tx2">
                <a:lumMod val="25000"/>
                <a:lumOff val="7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8" name="Picture 107">
            <a:extLst>
              <a:ext uri="{FF2B5EF4-FFF2-40B4-BE49-F238E27FC236}">
                <a16:creationId xmlns:a16="http://schemas.microsoft.com/office/drawing/2014/main" id="{56071D27-D0A9-835E-A0C3-D05D51B87968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257390" y="2809076"/>
            <a:ext cx="272533" cy="351101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3D288D6B-E97A-7CB9-4F72-413968A954D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126031" y="3027454"/>
            <a:ext cx="360000" cy="360000"/>
          </a:xfrm>
          <a:prstGeom prst="rect">
            <a:avLst/>
          </a:prstGeom>
        </p:spPr>
      </p:pic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E2301DC7-2269-BEC3-AC8E-9F1850A1EC0A}"/>
              </a:ext>
            </a:extLst>
          </p:cNvPr>
          <p:cNvCxnSpPr>
            <a:cxnSpLocks/>
          </p:cNvCxnSpPr>
          <p:nvPr/>
        </p:nvCxnSpPr>
        <p:spPr>
          <a:xfrm>
            <a:off x="4797383" y="3221745"/>
            <a:ext cx="2294463" cy="0"/>
          </a:xfrm>
          <a:prstGeom prst="straightConnector1">
            <a:avLst/>
          </a:prstGeom>
          <a:ln w="12700"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6125F0B7-09AA-2987-A9E4-64FC023C4518}"/>
              </a:ext>
            </a:extLst>
          </p:cNvPr>
          <p:cNvSpPr txBox="1"/>
          <p:nvPr/>
        </p:nvSpPr>
        <p:spPr>
          <a:xfrm>
            <a:off x="4047785" y="3369733"/>
            <a:ext cx="9973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 Door Profile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A4A76A66-C928-2036-8A7D-C6A196834CA1}"/>
              </a:ext>
            </a:extLst>
          </p:cNvPr>
          <p:cNvCxnSpPr>
            <a:cxnSpLocks/>
          </p:cNvCxnSpPr>
          <p:nvPr/>
        </p:nvCxnSpPr>
        <p:spPr>
          <a:xfrm>
            <a:off x="7563889" y="3221745"/>
            <a:ext cx="481166" cy="0"/>
          </a:xfrm>
          <a:prstGeom prst="straightConnector1">
            <a:avLst/>
          </a:prstGeom>
          <a:ln w="12700"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A5B2FFE8-40A8-F917-4A82-90418D9A3F37}"/>
              </a:ext>
            </a:extLst>
          </p:cNvPr>
          <p:cNvSpPr txBox="1"/>
          <p:nvPr/>
        </p:nvSpPr>
        <p:spPr>
          <a:xfrm>
            <a:off x="9064133" y="3218158"/>
            <a:ext cx="615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Managed</a:t>
            </a:r>
          </a:p>
          <a:p>
            <a:pPr algn="ctr"/>
            <a:r>
              <a:rPr lang="en-US" sz="8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Identity</a:t>
            </a:r>
          </a:p>
        </p:txBody>
      </p:sp>
      <p:cxnSp>
        <p:nvCxnSpPr>
          <p:cNvPr id="121" name="Elbow Connector 120">
            <a:extLst>
              <a:ext uri="{FF2B5EF4-FFF2-40B4-BE49-F238E27FC236}">
                <a16:creationId xmlns:a16="http://schemas.microsoft.com/office/drawing/2014/main" id="{03CCC228-8400-B4A5-B435-DC9509949791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34602" y="3527806"/>
            <a:ext cx="1152000" cy="1195200"/>
          </a:xfrm>
          <a:prstGeom prst="bentConnector3">
            <a:avLst/>
          </a:prstGeom>
          <a:ln w="12700"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4" name="Picture 123">
            <a:extLst>
              <a:ext uri="{FF2B5EF4-FFF2-40B4-BE49-F238E27FC236}">
                <a16:creationId xmlns:a16="http://schemas.microsoft.com/office/drawing/2014/main" id="{DAA53087-F921-CBC6-C4F3-02540E735F0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627772" y="4039927"/>
            <a:ext cx="273852" cy="352800"/>
          </a:xfrm>
          <a:prstGeom prst="rect">
            <a:avLst/>
          </a:prstGeom>
        </p:spPr>
      </p:pic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32079DCE-5D9B-D41F-CC75-73F28704C597}"/>
              </a:ext>
            </a:extLst>
          </p:cNvPr>
          <p:cNvCxnSpPr>
            <a:cxnSpLocks/>
          </p:cNvCxnSpPr>
          <p:nvPr/>
        </p:nvCxnSpPr>
        <p:spPr>
          <a:xfrm>
            <a:off x="3640871" y="3222133"/>
            <a:ext cx="605422" cy="0"/>
          </a:xfrm>
          <a:prstGeom prst="straightConnector1">
            <a:avLst/>
          </a:prstGeom>
          <a:ln w="12700"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3B9A0868-5CFB-374B-B7A4-643963978503}"/>
              </a:ext>
            </a:extLst>
          </p:cNvPr>
          <p:cNvSpPr txBox="1"/>
          <p:nvPr/>
        </p:nvSpPr>
        <p:spPr>
          <a:xfrm>
            <a:off x="2903545" y="3370573"/>
            <a:ext cx="9300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Application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Firewall Policies</a:t>
            </a: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F7EA2ABD-C4F0-BC76-2986-11B86B61E441}"/>
              </a:ext>
            </a:extLst>
          </p:cNvPr>
          <p:cNvCxnSpPr>
            <a:cxnSpLocks/>
          </p:cNvCxnSpPr>
          <p:nvPr/>
        </p:nvCxnSpPr>
        <p:spPr>
          <a:xfrm>
            <a:off x="925961" y="3222133"/>
            <a:ext cx="2151647" cy="0"/>
          </a:xfrm>
          <a:prstGeom prst="straightConnector1">
            <a:avLst/>
          </a:prstGeom>
          <a:ln w="12700"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7648C182-E6A0-CA9E-6133-45C2800F5E55}"/>
              </a:ext>
            </a:extLst>
          </p:cNvPr>
          <p:cNvSpPr txBox="1"/>
          <p:nvPr/>
        </p:nvSpPr>
        <p:spPr>
          <a:xfrm>
            <a:off x="9087000" y="6720326"/>
            <a:ext cx="8402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 Key Vault</a:t>
            </a:r>
          </a:p>
        </p:txBody>
      </p:sp>
      <p:pic>
        <p:nvPicPr>
          <p:cNvPr id="137" name="Graphic 136">
            <a:extLst>
              <a:ext uri="{FF2B5EF4-FFF2-40B4-BE49-F238E27FC236}">
                <a16:creationId xmlns:a16="http://schemas.microsoft.com/office/drawing/2014/main" id="{273C947C-A449-993B-1072-FC369395B43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077637" y="6334536"/>
            <a:ext cx="360000" cy="360000"/>
          </a:xfrm>
          <a:prstGeom prst="rect">
            <a:avLst/>
          </a:prstGeom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33047A78-AE49-D5B7-DDD4-B0E8F24C1BA8}"/>
              </a:ext>
            </a:extLst>
          </p:cNvPr>
          <p:cNvSpPr txBox="1"/>
          <p:nvPr/>
        </p:nvSpPr>
        <p:spPr>
          <a:xfrm>
            <a:off x="6868787" y="6720326"/>
            <a:ext cx="8627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Infra Key Vault</a:t>
            </a:r>
          </a:p>
        </p:txBody>
      </p:sp>
      <p:sp>
        <p:nvSpPr>
          <p:cNvPr id="143" name="Left Brace 142">
            <a:extLst>
              <a:ext uri="{FF2B5EF4-FFF2-40B4-BE49-F238E27FC236}">
                <a16:creationId xmlns:a16="http://schemas.microsoft.com/office/drawing/2014/main" id="{AE518792-6295-86C3-138E-E012D4D0F731}"/>
              </a:ext>
            </a:extLst>
          </p:cNvPr>
          <p:cNvSpPr/>
          <p:nvPr/>
        </p:nvSpPr>
        <p:spPr>
          <a:xfrm rot="16200000">
            <a:off x="8172285" y="5527120"/>
            <a:ext cx="458697" cy="3276000"/>
          </a:xfrm>
          <a:prstGeom prst="leftBrace">
            <a:avLst>
              <a:gd name="adj1" fmla="val 0"/>
              <a:gd name="adj2" fmla="val 50000"/>
            </a:avLst>
          </a:prstGeom>
          <a:ln w="127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7D44C401-F490-2DAF-85D3-242CCD5AE9EB}"/>
              </a:ext>
            </a:extLst>
          </p:cNvPr>
          <p:cNvSpPr txBox="1"/>
          <p:nvPr/>
        </p:nvSpPr>
        <p:spPr>
          <a:xfrm>
            <a:off x="7770439" y="7421552"/>
            <a:ext cx="12554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Access Disabled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9AF2DF9B-C180-B226-9A2C-A1A81E5DD963}"/>
              </a:ext>
            </a:extLst>
          </p:cNvPr>
          <p:cNvSpPr txBox="1"/>
          <p:nvPr/>
        </p:nvSpPr>
        <p:spPr>
          <a:xfrm>
            <a:off x="9147006" y="5101534"/>
            <a:ext cx="7232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Link</a:t>
            </a:r>
          </a:p>
        </p:txBody>
      </p: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F1691E44-E5A0-6D99-ACE5-CE9BBB1F63B2}"/>
              </a:ext>
            </a:extLst>
          </p:cNvPr>
          <p:cNvGrpSpPr/>
          <p:nvPr/>
        </p:nvGrpSpPr>
        <p:grpSpPr>
          <a:xfrm>
            <a:off x="4909591" y="6772408"/>
            <a:ext cx="798617" cy="865251"/>
            <a:chOff x="2679187" y="4662674"/>
            <a:chExt cx="798617" cy="865251"/>
          </a:xfrm>
        </p:grpSpPr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0D4BB5FE-BAC0-AB86-1734-2C34FC497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2916068" y="4662674"/>
              <a:ext cx="360000" cy="360000"/>
            </a:xfrm>
            <a:prstGeom prst="rect">
              <a:avLst/>
            </a:prstGeom>
          </p:spPr>
        </p:pic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A49856A3-E171-BC4C-F684-5C08CC5CA0D6}"/>
                </a:ext>
              </a:extLst>
            </p:cNvPr>
            <p:cNvSpPr txBox="1"/>
            <p:nvPr/>
          </p:nvSpPr>
          <p:spPr>
            <a:xfrm>
              <a:off x="2679187" y="5066260"/>
              <a:ext cx="79861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Log Analytics</a:t>
              </a:r>
              <a:br>
                <a:rPr lang="en-US" sz="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Workspace</a:t>
              </a:r>
              <a:br>
                <a:rPr lang="en-US" sz="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(Per Env.)</a:t>
              </a:r>
            </a:p>
          </p:txBody>
        </p:sp>
      </p:grpSp>
      <p:sp>
        <p:nvSpPr>
          <p:cNvPr id="161" name="TextBox 160">
            <a:extLst>
              <a:ext uri="{FF2B5EF4-FFF2-40B4-BE49-F238E27FC236}">
                <a16:creationId xmlns:a16="http://schemas.microsoft.com/office/drawing/2014/main" id="{D48AEA43-C949-5C01-C94D-F78EDE6CCEC0}"/>
              </a:ext>
            </a:extLst>
          </p:cNvPr>
          <p:cNvSpPr txBox="1"/>
          <p:nvPr/>
        </p:nvSpPr>
        <p:spPr>
          <a:xfrm>
            <a:off x="9881785" y="4062847"/>
            <a:ext cx="615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Managed</a:t>
            </a:r>
          </a:p>
          <a:p>
            <a:pPr algn="ctr"/>
            <a:r>
              <a:rPr lang="en-US" sz="8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Identity</a:t>
            </a:r>
          </a:p>
        </p:txBody>
      </p: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96C45F94-B310-F304-EFA4-8AC295FA8C55}"/>
              </a:ext>
            </a:extLst>
          </p:cNvPr>
          <p:cNvGrpSpPr/>
          <p:nvPr/>
        </p:nvGrpSpPr>
        <p:grpSpPr>
          <a:xfrm>
            <a:off x="4284996" y="6772024"/>
            <a:ext cx="689612" cy="865634"/>
            <a:chOff x="3949702" y="4662291"/>
            <a:chExt cx="689612" cy="865634"/>
          </a:xfrm>
        </p:grpSpPr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55FA4CE5-11D4-3257-5343-59FF60D038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4117887" y="4662291"/>
              <a:ext cx="360000" cy="360000"/>
            </a:xfrm>
            <a:prstGeom prst="rect">
              <a:avLst/>
            </a:prstGeom>
          </p:spPr>
        </p:pic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6B10A104-2B0D-07E8-50BD-1592E14DF6FD}"/>
                </a:ext>
              </a:extLst>
            </p:cNvPr>
            <p:cNvSpPr txBox="1"/>
            <p:nvPr/>
          </p:nvSpPr>
          <p:spPr>
            <a:xfrm>
              <a:off x="3949702" y="5066260"/>
              <a:ext cx="6896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Application</a:t>
              </a:r>
              <a:br>
                <a:rPr lang="en-US" sz="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Insights</a:t>
              </a:r>
              <a:br>
                <a:rPr lang="en-US" sz="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(Per Env.)</a:t>
              </a:r>
            </a:p>
          </p:txBody>
        </p:sp>
      </p:grpSp>
      <p:sp>
        <p:nvSpPr>
          <p:cNvPr id="173" name="TextBox 172">
            <a:extLst>
              <a:ext uri="{FF2B5EF4-FFF2-40B4-BE49-F238E27FC236}">
                <a16:creationId xmlns:a16="http://schemas.microsoft.com/office/drawing/2014/main" id="{180E2870-3411-D787-9BB5-46E64BB206BA}"/>
              </a:ext>
            </a:extLst>
          </p:cNvPr>
          <p:cNvSpPr txBox="1"/>
          <p:nvPr/>
        </p:nvSpPr>
        <p:spPr>
          <a:xfrm>
            <a:off x="11740591" y="3369733"/>
            <a:ext cx="7938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Backup Vault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422191AF-DEA4-6752-64F7-2E36F224E3E3}"/>
              </a:ext>
            </a:extLst>
          </p:cNvPr>
          <p:cNvCxnSpPr>
            <a:cxnSpLocks/>
          </p:cNvCxnSpPr>
          <p:nvPr/>
        </p:nvCxnSpPr>
        <p:spPr>
          <a:xfrm>
            <a:off x="10843375" y="3234182"/>
            <a:ext cx="1002007" cy="0"/>
          </a:xfrm>
          <a:prstGeom prst="straightConnector1">
            <a:avLst/>
          </a:prstGeom>
          <a:ln w="12700">
            <a:solidFill>
              <a:schemeClr val="tx2">
                <a:lumMod val="25000"/>
                <a:lumOff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8" name="Picture 187">
            <a:extLst>
              <a:ext uri="{FF2B5EF4-FFF2-40B4-BE49-F238E27FC236}">
                <a16:creationId xmlns:a16="http://schemas.microsoft.com/office/drawing/2014/main" id="{A22F5DB2-D367-2EB7-B786-BEBCF6390C89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641562" y="2343612"/>
            <a:ext cx="95127" cy="144000"/>
          </a:xfrm>
          <a:prstGeom prst="rect">
            <a:avLst/>
          </a:prstGeom>
        </p:spPr>
      </p:pic>
      <p:pic>
        <p:nvPicPr>
          <p:cNvPr id="189" name="Picture 188">
            <a:extLst>
              <a:ext uri="{FF2B5EF4-FFF2-40B4-BE49-F238E27FC236}">
                <a16:creationId xmlns:a16="http://schemas.microsoft.com/office/drawing/2014/main" id="{FD107489-6F8C-65FE-46AD-D76F944A4373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842045" y="2343612"/>
            <a:ext cx="95127" cy="144000"/>
          </a:xfrm>
          <a:prstGeom prst="rect">
            <a:avLst/>
          </a:prstGeom>
        </p:spPr>
      </p:pic>
      <p:sp>
        <p:nvSpPr>
          <p:cNvPr id="191" name="TextBox 190">
            <a:extLst>
              <a:ext uri="{FF2B5EF4-FFF2-40B4-BE49-F238E27FC236}">
                <a16:creationId xmlns:a16="http://schemas.microsoft.com/office/drawing/2014/main" id="{DB79C39B-7A6F-73FA-4A1E-69B1F785637D}"/>
              </a:ext>
            </a:extLst>
          </p:cNvPr>
          <p:cNvSpPr txBox="1"/>
          <p:nvPr/>
        </p:nvSpPr>
        <p:spPr>
          <a:xfrm>
            <a:off x="1901480" y="2310592"/>
            <a:ext cx="27222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Hub Azure Subscription For Shared Resources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2574F700-C42C-C7D7-96E9-B616BEA5FA44}"/>
              </a:ext>
            </a:extLst>
          </p:cNvPr>
          <p:cNvSpPr txBox="1"/>
          <p:nvPr/>
        </p:nvSpPr>
        <p:spPr>
          <a:xfrm>
            <a:off x="6722507" y="2304470"/>
            <a:ext cx="18469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Environment Azure Subscription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C55A6EE2-802A-17E1-08A1-7570955B41D8}"/>
              </a:ext>
            </a:extLst>
          </p:cNvPr>
          <p:cNvSpPr txBox="1"/>
          <p:nvPr/>
        </p:nvSpPr>
        <p:spPr>
          <a:xfrm>
            <a:off x="9827900" y="2728634"/>
            <a:ext cx="12779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 Security Group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9F4E1E2A-427F-D10F-365B-19629A0C0C4B}"/>
              </a:ext>
            </a:extLst>
          </p:cNvPr>
          <p:cNvSpPr txBox="1"/>
          <p:nvPr/>
        </p:nvSpPr>
        <p:spPr>
          <a:xfrm>
            <a:off x="6927153" y="5572215"/>
            <a:ext cx="8819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Network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1ECA88B1-EF39-5E99-290E-16453F841226}"/>
              </a:ext>
            </a:extLst>
          </p:cNvPr>
          <p:cNvSpPr txBox="1"/>
          <p:nvPr/>
        </p:nvSpPr>
        <p:spPr>
          <a:xfrm>
            <a:off x="8591909" y="5216278"/>
            <a:ext cx="5132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Subnet</a:t>
            </a:r>
          </a:p>
        </p:txBody>
      </p:sp>
      <p:pic>
        <p:nvPicPr>
          <p:cNvPr id="198" name="Graphic 197">
            <a:extLst>
              <a:ext uri="{FF2B5EF4-FFF2-40B4-BE49-F238E27FC236}">
                <a16:creationId xmlns:a16="http://schemas.microsoft.com/office/drawing/2014/main" id="{223593EE-06F9-4D65-C6E3-87EBAD38B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7899" y="6281695"/>
            <a:ext cx="144000" cy="144000"/>
          </a:xfrm>
          <a:prstGeom prst="rect">
            <a:avLst/>
          </a:prstGeom>
        </p:spPr>
      </p:pic>
      <p:sp>
        <p:nvSpPr>
          <p:cNvPr id="199" name="TextBox 198">
            <a:extLst>
              <a:ext uri="{FF2B5EF4-FFF2-40B4-BE49-F238E27FC236}">
                <a16:creationId xmlns:a16="http://schemas.microsoft.com/office/drawing/2014/main" id="{A8AE83A7-EF02-D917-A5B1-F1B419C6874C}"/>
              </a:ext>
            </a:extLst>
          </p:cNvPr>
          <p:cNvSpPr txBox="1"/>
          <p:nvPr/>
        </p:nvSpPr>
        <p:spPr>
          <a:xfrm>
            <a:off x="2130779" y="6251360"/>
            <a:ext cx="8819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Network</a:t>
            </a:r>
          </a:p>
        </p:txBody>
      </p: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16F16595-F6E2-6CC4-8806-44BF87324661}"/>
              </a:ext>
            </a:extLst>
          </p:cNvPr>
          <p:cNvCxnSpPr>
            <a:cxnSpLocks/>
          </p:cNvCxnSpPr>
          <p:nvPr/>
        </p:nvCxnSpPr>
        <p:spPr>
          <a:xfrm>
            <a:off x="5621013" y="5195204"/>
            <a:ext cx="1142616" cy="0"/>
          </a:xfrm>
          <a:prstGeom prst="straightConnector1">
            <a:avLst/>
          </a:prstGeom>
          <a:ln>
            <a:solidFill>
              <a:srgbClr val="0078D4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31FC4A12-99BF-198E-C14D-0F029607896A}"/>
              </a:ext>
            </a:extLst>
          </p:cNvPr>
          <p:cNvSpPr txBox="1"/>
          <p:nvPr/>
        </p:nvSpPr>
        <p:spPr>
          <a:xfrm>
            <a:off x="6031088" y="4979760"/>
            <a:ext cx="5405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Peering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266AC178-06C6-FB17-E350-1D186C9FFC85}"/>
              </a:ext>
            </a:extLst>
          </p:cNvPr>
          <p:cNvSpPr txBox="1"/>
          <p:nvPr/>
        </p:nvSpPr>
        <p:spPr>
          <a:xfrm>
            <a:off x="1854717" y="7190683"/>
            <a:ext cx="7104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DNS</a:t>
            </a:r>
          </a:p>
        </p:txBody>
      </p:sp>
      <p:pic>
        <p:nvPicPr>
          <p:cNvPr id="194" name="Graphic 193">
            <a:extLst>
              <a:ext uri="{FF2B5EF4-FFF2-40B4-BE49-F238E27FC236}">
                <a16:creationId xmlns:a16="http://schemas.microsoft.com/office/drawing/2014/main" id="{A6C5E7DA-C69D-95E4-02B0-63F08728AE80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638095" y="4182757"/>
            <a:ext cx="360000" cy="360000"/>
          </a:xfrm>
          <a:prstGeom prst="rect">
            <a:avLst/>
          </a:prstGeom>
        </p:spPr>
      </p:pic>
      <p:sp>
        <p:nvSpPr>
          <p:cNvPr id="232" name="Rectangle 231">
            <a:extLst>
              <a:ext uri="{FF2B5EF4-FFF2-40B4-BE49-F238E27FC236}">
                <a16:creationId xmlns:a16="http://schemas.microsoft.com/office/drawing/2014/main" id="{DE83C0B9-4BAD-5ABA-B556-3B8BCC12591F}"/>
              </a:ext>
            </a:extLst>
          </p:cNvPr>
          <p:cNvSpPr/>
          <p:nvPr/>
        </p:nvSpPr>
        <p:spPr>
          <a:xfrm>
            <a:off x="3293985" y="4048572"/>
            <a:ext cx="1032371" cy="988413"/>
          </a:xfrm>
          <a:prstGeom prst="rect">
            <a:avLst/>
          </a:prstGeom>
          <a:solidFill>
            <a:schemeClr val="tx2">
              <a:lumMod val="50000"/>
              <a:lumOff val="50000"/>
              <a:alpha val="4178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3" name="Graphic 232">
            <a:extLst>
              <a:ext uri="{FF2B5EF4-FFF2-40B4-BE49-F238E27FC236}">
                <a16:creationId xmlns:a16="http://schemas.microsoft.com/office/drawing/2014/main" id="{582771CA-4DA9-4425-F255-36B6F7AB8C6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32304" y="4089530"/>
            <a:ext cx="144000" cy="144000"/>
          </a:xfrm>
          <a:prstGeom prst="rect">
            <a:avLst/>
          </a:prstGeom>
        </p:spPr>
      </p:pic>
      <p:pic>
        <p:nvPicPr>
          <p:cNvPr id="234" name="Graphic 233">
            <a:extLst>
              <a:ext uri="{FF2B5EF4-FFF2-40B4-BE49-F238E27FC236}">
                <a16:creationId xmlns:a16="http://schemas.microsoft.com/office/drawing/2014/main" id="{0C764C91-191E-1039-1225-3E6AACD59C6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332304" y="4844526"/>
            <a:ext cx="144000" cy="144000"/>
          </a:xfrm>
          <a:prstGeom prst="rect">
            <a:avLst/>
          </a:prstGeom>
        </p:spPr>
      </p:pic>
      <p:sp>
        <p:nvSpPr>
          <p:cNvPr id="235" name="TextBox 234">
            <a:extLst>
              <a:ext uri="{FF2B5EF4-FFF2-40B4-BE49-F238E27FC236}">
                <a16:creationId xmlns:a16="http://schemas.microsoft.com/office/drawing/2014/main" id="{B5C9AE2B-9C43-23AE-2E9D-F46022AA88BF}"/>
              </a:ext>
            </a:extLst>
          </p:cNvPr>
          <p:cNvSpPr txBox="1"/>
          <p:nvPr/>
        </p:nvSpPr>
        <p:spPr>
          <a:xfrm>
            <a:off x="3448925" y="4582581"/>
            <a:ext cx="750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DNS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Resolver</a:t>
            </a:r>
          </a:p>
        </p:txBody>
      </p:sp>
      <p:pic>
        <p:nvPicPr>
          <p:cNvPr id="242" name="Graphic 241">
            <a:extLst>
              <a:ext uri="{FF2B5EF4-FFF2-40B4-BE49-F238E27FC236}">
                <a16:creationId xmlns:a16="http://schemas.microsoft.com/office/drawing/2014/main" id="{AE029952-154D-6955-2D6A-DA5F84083A8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665035" y="6785121"/>
            <a:ext cx="360000" cy="360000"/>
          </a:xfrm>
          <a:prstGeom prst="rect">
            <a:avLst/>
          </a:prstGeom>
        </p:spPr>
      </p:pic>
      <p:sp>
        <p:nvSpPr>
          <p:cNvPr id="243" name="TextBox 242">
            <a:extLst>
              <a:ext uri="{FF2B5EF4-FFF2-40B4-BE49-F238E27FC236}">
                <a16:creationId xmlns:a16="http://schemas.microsoft.com/office/drawing/2014/main" id="{6B6C8435-5DC5-71E5-F620-21FD77D3CE6A}"/>
              </a:ext>
            </a:extLst>
          </p:cNvPr>
          <p:cNvSpPr txBox="1"/>
          <p:nvPr/>
        </p:nvSpPr>
        <p:spPr>
          <a:xfrm>
            <a:off x="2469001" y="7190683"/>
            <a:ext cx="7505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DNS</a:t>
            </a:r>
          </a:p>
        </p:txBody>
      </p:sp>
      <p:pic>
        <p:nvPicPr>
          <p:cNvPr id="51" name="Graphic 50">
            <a:extLst>
              <a:ext uri="{FF2B5EF4-FFF2-40B4-BE49-F238E27FC236}">
                <a16:creationId xmlns:a16="http://schemas.microsoft.com/office/drawing/2014/main" id="{0BD4E7BE-30D6-0FB0-60CA-CC08D90D5F89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609076" y="5336898"/>
            <a:ext cx="360000" cy="360000"/>
          </a:xfrm>
          <a:prstGeom prst="rect">
            <a:avLst/>
          </a:prstGeom>
        </p:spPr>
      </p:pic>
      <p:sp>
        <p:nvSpPr>
          <p:cNvPr id="250" name="Rectangle 249">
            <a:extLst>
              <a:ext uri="{FF2B5EF4-FFF2-40B4-BE49-F238E27FC236}">
                <a16:creationId xmlns:a16="http://schemas.microsoft.com/office/drawing/2014/main" id="{691AB212-CD12-333E-6D30-9D2A78A0A8A8}"/>
              </a:ext>
            </a:extLst>
          </p:cNvPr>
          <p:cNvSpPr/>
          <p:nvPr/>
        </p:nvSpPr>
        <p:spPr>
          <a:xfrm>
            <a:off x="3292391" y="5191335"/>
            <a:ext cx="1032371" cy="988413"/>
          </a:xfrm>
          <a:prstGeom prst="rect">
            <a:avLst/>
          </a:prstGeom>
          <a:solidFill>
            <a:schemeClr val="tx2">
              <a:lumMod val="50000"/>
              <a:lumOff val="50000"/>
              <a:alpha val="4178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1" name="Graphic 250">
            <a:extLst>
              <a:ext uri="{FF2B5EF4-FFF2-40B4-BE49-F238E27FC236}">
                <a16:creationId xmlns:a16="http://schemas.microsoft.com/office/drawing/2014/main" id="{7046E704-207B-E8E1-423E-D56A659130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30710" y="5232293"/>
            <a:ext cx="144000" cy="144000"/>
          </a:xfrm>
          <a:prstGeom prst="rect">
            <a:avLst/>
          </a:prstGeom>
        </p:spPr>
      </p:pic>
      <p:pic>
        <p:nvPicPr>
          <p:cNvPr id="252" name="Graphic 251">
            <a:extLst>
              <a:ext uri="{FF2B5EF4-FFF2-40B4-BE49-F238E27FC236}">
                <a16:creationId xmlns:a16="http://schemas.microsoft.com/office/drawing/2014/main" id="{F39772AD-AE60-53AD-727F-1E74CD8351C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330710" y="5987289"/>
            <a:ext cx="144000" cy="144000"/>
          </a:xfrm>
          <a:prstGeom prst="rect">
            <a:avLst/>
          </a:prstGeom>
        </p:spPr>
      </p:pic>
      <p:sp>
        <p:nvSpPr>
          <p:cNvPr id="253" name="TextBox 252">
            <a:extLst>
              <a:ext uri="{FF2B5EF4-FFF2-40B4-BE49-F238E27FC236}">
                <a16:creationId xmlns:a16="http://schemas.microsoft.com/office/drawing/2014/main" id="{E9115A8D-241B-0B3B-BAA2-BA5FB7F1E89A}"/>
              </a:ext>
            </a:extLst>
          </p:cNvPr>
          <p:cNvSpPr txBox="1"/>
          <p:nvPr/>
        </p:nvSpPr>
        <p:spPr>
          <a:xfrm>
            <a:off x="3297543" y="5725344"/>
            <a:ext cx="10166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Managed DevOps</a:t>
            </a:r>
            <a:b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Pool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504B420-8D4F-C152-BBE5-FA9D083F9A27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439088" y="4192630"/>
            <a:ext cx="360000" cy="360000"/>
          </a:xfrm>
          <a:prstGeom prst="rect">
            <a:avLst/>
          </a:prstGeom>
        </p:spPr>
      </p:pic>
      <p:sp>
        <p:nvSpPr>
          <p:cNvPr id="255" name="Rectangle 254">
            <a:extLst>
              <a:ext uri="{FF2B5EF4-FFF2-40B4-BE49-F238E27FC236}">
                <a16:creationId xmlns:a16="http://schemas.microsoft.com/office/drawing/2014/main" id="{AB47E75F-868B-7849-1703-BB3E5990AE38}"/>
              </a:ext>
            </a:extLst>
          </p:cNvPr>
          <p:cNvSpPr/>
          <p:nvPr/>
        </p:nvSpPr>
        <p:spPr>
          <a:xfrm>
            <a:off x="2113185" y="4048572"/>
            <a:ext cx="1032371" cy="988413"/>
          </a:xfrm>
          <a:prstGeom prst="rect">
            <a:avLst/>
          </a:prstGeom>
          <a:solidFill>
            <a:schemeClr val="tx2">
              <a:lumMod val="50000"/>
              <a:lumOff val="50000"/>
              <a:alpha val="4178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6" name="Graphic 255">
            <a:extLst>
              <a:ext uri="{FF2B5EF4-FFF2-40B4-BE49-F238E27FC236}">
                <a16:creationId xmlns:a16="http://schemas.microsoft.com/office/drawing/2014/main" id="{C5B0804D-A1BE-4964-1B16-5D8A82F0D38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51504" y="4089530"/>
            <a:ext cx="144000" cy="144000"/>
          </a:xfrm>
          <a:prstGeom prst="rect">
            <a:avLst/>
          </a:prstGeom>
        </p:spPr>
      </p:pic>
      <p:pic>
        <p:nvPicPr>
          <p:cNvPr id="257" name="Graphic 256">
            <a:extLst>
              <a:ext uri="{FF2B5EF4-FFF2-40B4-BE49-F238E27FC236}">
                <a16:creationId xmlns:a16="http://schemas.microsoft.com/office/drawing/2014/main" id="{762AD924-E183-F241-3221-2B7A405B319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151504" y="4844526"/>
            <a:ext cx="144000" cy="144000"/>
          </a:xfrm>
          <a:prstGeom prst="rect">
            <a:avLst/>
          </a:prstGeom>
        </p:spPr>
      </p:pic>
      <p:sp>
        <p:nvSpPr>
          <p:cNvPr id="258" name="TextBox 257">
            <a:extLst>
              <a:ext uri="{FF2B5EF4-FFF2-40B4-BE49-F238E27FC236}">
                <a16:creationId xmlns:a16="http://schemas.microsoft.com/office/drawing/2014/main" id="{9FD9C40C-87E7-88A2-2A9A-9C492B3A632B}"/>
              </a:ext>
            </a:extLst>
          </p:cNvPr>
          <p:cNvSpPr txBox="1"/>
          <p:nvPr/>
        </p:nvSpPr>
        <p:spPr>
          <a:xfrm>
            <a:off x="2239366" y="4582581"/>
            <a:ext cx="7745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Azure Virtual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Desktop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0F9155F1-56AC-D2BE-E1BF-8D89C035EA3D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2466796" y="5340050"/>
            <a:ext cx="360000" cy="360000"/>
          </a:xfrm>
          <a:prstGeom prst="rect">
            <a:avLst/>
          </a:prstGeom>
        </p:spPr>
      </p:pic>
      <p:sp>
        <p:nvSpPr>
          <p:cNvPr id="264" name="Rectangle 263">
            <a:extLst>
              <a:ext uri="{FF2B5EF4-FFF2-40B4-BE49-F238E27FC236}">
                <a16:creationId xmlns:a16="http://schemas.microsoft.com/office/drawing/2014/main" id="{7E4908B8-7663-C82A-472B-861E4DC6103B}"/>
              </a:ext>
            </a:extLst>
          </p:cNvPr>
          <p:cNvSpPr/>
          <p:nvPr/>
        </p:nvSpPr>
        <p:spPr>
          <a:xfrm>
            <a:off x="2113185" y="5192811"/>
            <a:ext cx="1032371" cy="988413"/>
          </a:xfrm>
          <a:prstGeom prst="rect">
            <a:avLst/>
          </a:prstGeom>
          <a:solidFill>
            <a:schemeClr val="tx2">
              <a:lumMod val="50000"/>
              <a:lumOff val="50000"/>
              <a:alpha val="4178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5" name="Graphic 264">
            <a:extLst>
              <a:ext uri="{FF2B5EF4-FFF2-40B4-BE49-F238E27FC236}">
                <a16:creationId xmlns:a16="http://schemas.microsoft.com/office/drawing/2014/main" id="{1B334E71-B494-1C7C-C6FD-62F8132E2ED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51504" y="5233769"/>
            <a:ext cx="144000" cy="144000"/>
          </a:xfrm>
          <a:prstGeom prst="rect">
            <a:avLst/>
          </a:prstGeom>
        </p:spPr>
      </p:pic>
      <p:pic>
        <p:nvPicPr>
          <p:cNvPr id="266" name="Graphic 265">
            <a:extLst>
              <a:ext uri="{FF2B5EF4-FFF2-40B4-BE49-F238E27FC236}">
                <a16:creationId xmlns:a16="http://schemas.microsoft.com/office/drawing/2014/main" id="{590EA591-8D80-5427-B236-A737E8BB1E3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151504" y="5988765"/>
            <a:ext cx="144000" cy="144000"/>
          </a:xfrm>
          <a:prstGeom prst="rect">
            <a:avLst/>
          </a:prstGeom>
        </p:spPr>
      </p:pic>
      <p:sp>
        <p:nvSpPr>
          <p:cNvPr id="267" name="TextBox 266">
            <a:extLst>
              <a:ext uri="{FF2B5EF4-FFF2-40B4-BE49-F238E27FC236}">
                <a16:creationId xmlns:a16="http://schemas.microsoft.com/office/drawing/2014/main" id="{11A3CA56-54D2-D374-F247-1BE45DD060AD}"/>
              </a:ext>
            </a:extLst>
          </p:cNvPr>
          <p:cNvSpPr txBox="1"/>
          <p:nvPr/>
        </p:nvSpPr>
        <p:spPr>
          <a:xfrm>
            <a:off x="2219308" y="5726820"/>
            <a:ext cx="8354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Azure Firewall</a:t>
            </a:r>
          </a:p>
        </p:txBody>
      </p: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AD3C97D6-8E39-6B10-F413-F81C0981AF34}"/>
              </a:ext>
            </a:extLst>
          </p:cNvPr>
          <p:cNvCxnSpPr>
            <a:cxnSpLocks/>
          </p:cNvCxnSpPr>
          <p:nvPr/>
        </p:nvCxnSpPr>
        <p:spPr>
          <a:xfrm flipH="1">
            <a:off x="925961" y="5551259"/>
            <a:ext cx="1427133" cy="0"/>
          </a:xfrm>
          <a:prstGeom prst="straightConnector1">
            <a:avLst/>
          </a:prstGeom>
          <a:ln w="12700"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TextBox 278">
            <a:extLst>
              <a:ext uri="{FF2B5EF4-FFF2-40B4-BE49-F238E27FC236}">
                <a16:creationId xmlns:a16="http://schemas.microsoft.com/office/drawing/2014/main" id="{523AF06C-2DBE-8BE9-88A0-E09CDE93C95A}"/>
              </a:ext>
            </a:extLst>
          </p:cNvPr>
          <p:cNvSpPr txBox="1"/>
          <p:nvPr/>
        </p:nvSpPr>
        <p:spPr>
          <a:xfrm>
            <a:off x="1119194" y="5313962"/>
            <a:ext cx="647934" cy="438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Egress</a:t>
            </a:r>
            <a:b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Traffic</a:t>
            </a: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8773F0A8-8B04-50AC-8AA0-ABB8D5B974E1}"/>
              </a:ext>
            </a:extLst>
          </p:cNvPr>
          <p:cNvSpPr/>
          <p:nvPr/>
        </p:nvSpPr>
        <p:spPr>
          <a:xfrm>
            <a:off x="4470855" y="4050135"/>
            <a:ext cx="1032371" cy="988413"/>
          </a:xfrm>
          <a:prstGeom prst="rect">
            <a:avLst/>
          </a:prstGeom>
          <a:solidFill>
            <a:schemeClr val="tx2">
              <a:lumMod val="50000"/>
              <a:lumOff val="50000"/>
              <a:alpha val="4178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9" name="Graphic 268">
            <a:extLst>
              <a:ext uri="{FF2B5EF4-FFF2-40B4-BE49-F238E27FC236}">
                <a16:creationId xmlns:a16="http://schemas.microsoft.com/office/drawing/2014/main" id="{5E99F0B5-CABB-644F-FF81-06119746C7D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09174" y="4091093"/>
            <a:ext cx="144000" cy="144000"/>
          </a:xfrm>
          <a:prstGeom prst="rect">
            <a:avLst/>
          </a:prstGeom>
        </p:spPr>
      </p:pic>
      <p:pic>
        <p:nvPicPr>
          <p:cNvPr id="270" name="Graphic 269">
            <a:extLst>
              <a:ext uri="{FF2B5EF4-FFF2-40B4-BE49-F238E27FC236}">
                <a16:creationId xmlns:a16="http://schemas.microsoft.com/office/drawing/2014/main" id="{127D0910-3390-2459-1A7F-9D6CCF2FB04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509174" y="4846089"/>
            <a:ext cx="144000" cy="144000"/>
          </a:xfrm>
          <a:prstGeom prst="rect">
            <a:avLst/>
          </a:prstGeom>
        </p:spPr>
      </p:pic>
      <p:sp>
        <p:nvSpPr>
          <p:cNvPr id="271" name="TextBox 270">
            <a:extLst>
              <a:ext uri="{FF2B5EF4-FFF2-40B4-BE49-F238E27FC236}">
                <a16:creationId xmlns:a16="http://schemas.microsoft.com/office/drawing/2014/main" id="{9181F65C-F461-9646-FFF8-2DEFB00B67A9}"/>
              </a:ext>
            </a:extLst>
          </p:cNvPr>
          <p:cNvSpPr txBox="1"/>
          <p:nvPr/>
        </p:nvSpPr>
        <p:spPr>
          <a:xfrm>
            <a:off x="4396659" y="4584144"/>
            <a:ext cx="1175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Azure Monitor Private</a:t>
            </a:r>
            <a:b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 Scope</a:t>
            </a:r>
          </a:p>
        </p:txBody>
      </p:sp>
      <p:pic>
        <p:nvPicPr>
          <p:cNvPr id="285" name="Picture 284">
            <a:extLst>
              <a:ext uri="{FF2B5EF4-FFF2-40B4-BE49-F238E27FC236}">
                <a16:creationId xmlns:a16="http://schemas.microsoft.com/office/drawing/2014/main" id="{13A4E2E1-7614-D490-7B8F-7BA4FD7020B7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869943" y="4186189"/>
            <a:ext cx="241678" cy="360000"/>
          </a:xfrm>
          <a:prstGeom prst="rect">
            <a:avLst/>
          </a:prstGeom>
        </p:spPr>
      </p:pic>
      <p:grpSp>
        <p:nvGrpSpPr>
          <p:cNvPr id="311" name="Group 310">
            <a:extLst>
              <a:ext uri="{FF2B5EF4-FFF2-40B4-BE49-F238E27FC236}">
                <a16:creationId xmlns:a16="http://schemas.microsoft.com/office/drawing/2014/main" id="{BFDC0DB9-57EC-B590-8412-8602C29AB6A6}"/>
              </a:ext>
            </a:extLst>
          </p:cNvPr>
          <p:cNvGrpSpPr/>
          <p:nvPr/>
        </p:nvGrpSpPr>
        <p:grpSpPr>
          <a:xfrm>
            <a:off x="399921" y="3024688"/>
            <a:ext cx="401072" cy="560491"/>
            <a:chOff x="193404" y="914953"/>
            <a:chExt cx="401072" cy="560491"/>
          </a:xfrm>
        </p:grpSpPr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75FC5823-6DBE-3B27-9B9F-A9AF98772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212468" y="914953"/>
              <a:ext cx="360000" cy="360000"/>
            </a:xfrm>
            <a:prstGeom prst="rect">
              <a:avLst/>
            </a:prstGeom>
          </p:spPr>
        </p:pic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DFCB69DE-59E4-110C-E1F9-BD89FAB882A9}"/>
                </a:ext>
              </a:extLst>
            </p:cNvPr>
            <p:cNvSpPr txBox="1"/>
            <p:nvPr/>
          </p:nvSpPr>
          <p:spPr>
            <a:xfrm>
              <a:off x="193404" y="1260000"/>
              <a:ext cx="4010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User</a:t>
              </a:r>
            </a:p>
          </p:txBody>
        </p:sp>
      </p:grpSp>
      <p:cxnSp>
        <p:nvCxnSpPr>
          <p:cNvPr id="298" name="Elbow Connector 297">
            <a:extLst>
              <a:ext uri="{FF2B5EF4-FFF2-40B4-BE49-F238E27FC236}">
                <a16:creationId xmlns:a16="http://schemas.microsoft.com/office/drawing/2014/main" id="{F2921A2C-4F82-6D90-F4AA-AFAE2678C516}"/>
              </a:ext>
            </a:extLst>
          </p:cNvPr>
          <p:cNvCxnSpPr>
            <a:cxnSpLocks/>
          </p:cNvCxnSpPr>
          <p:nvPr/>
        </p:nvCxnSpPr>
        <p:spPr>
          <a:xfrm rot="5400000">
            <a:off x="6202055" y="2613093"/>
            <a:ext cx="774000" cy="2772000"/>
          </a:xfrm>
          <a:prstGeom prst="bentConnector2">
            <a:avLst/>
          </a:prstGeom>
          <a:ln w="12700"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8" name="TextBox 307">
            <a:extLst>
              <a:ext uri="{FF2B5EF4-FFF2-40B4-BE49-F238E27FC236}">
                <a16:creationId xmlns:a16="http://schemas.microsoft.com/office/drawing/2014/main" id="{7BEC14B9-2F02-BBC4-1CC2-08F5202E61E7}"/>
              </a:ext>
            </a:extLst>
          </p:cNvPr>
          <p:cNvSpPr txBox="1"/>
          <p:nvPr/>
        </p:nvSpPr>
        <p:spPr>
          <a:xfrm>
            <a:off x="6764980" y="4139432"/>
            <a:ext cx="1451512" cy="438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Logs</a:t>
            </a:r>
          </a:p>
          <a:p>
            <a:pPr algn="ctr">
              <a:lnSpc>
                <a:spcPct val="150000"/>
              </a:lnSpc>
            </a:pPr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Metrics</a:t>
            </a: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EF18470-0E5D-52DF-9BCE-1522318C03F7}"/>
              </a:ext>
            </a:extLst>
          </p:cNvPr>
          <p:cNvSpPr txBox="1"/>
          <p:nvPr/>
        </p:nvSpPr>
        <p:spPr>
          <a:xfrm>
            <a:off x="7893988" y="2815301"/>
            <a:ext cx="10807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Container App Env.</a:t>
            </a:r>
          </a:p>
        </p:txBody>
      </p:sp>
      <p:pic>
        <p:nvPicPr>
          <p:cNvPr id="313" name="Graphic 312">
            <a:extLst>
              <a:ext uri="{FF2B5EF4-FFF2-40B4-BE49-F238E27FC236}">
                <a16:creationId xmlns:a16="http://schemas.microsoft.com/office/drawing/2014/main" id="{DD769928-35EA-976F-BE9C-9AFEA8E7E190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419469" y="4182615"/>
            <a:ext cx="360000" cy="360000"/>
          </a:xfrm>
          <a:prstGeom prst="rect">
            <a:avLst/>
          </a:prstGeom>
        </p:spPr>
      </p:pic>
      <p:sp>
        <p:nvSpPr>
          <p:cNvPr id="314" name="TextBox 313">
            <a:extLst>
              <a:ext uri="{FF2B5EF4-FFF2-40B4-BE49-F238E27FC236}">
                <a16:creationId xmlns:a16="http://schemas.microsoft.com/office/drawing/2014/main" id="{3739871B-5FB8-77CE-4DDE-DAF83577B1BA}"/>
              </a:ext>
            </a:extLst>
          </p:cNvPr>
          <p:cNvSpPr txBox="1"/>
          <p:nvPr/>
        </p:nvSpPr>
        <p:spPr>
          <a:xfrm>
            <a:off x="65143" y="4527662"/>
            <a:ext cx="1056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Developer Solution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</a:t>
            </a:r>
          </a:p>
        </p:txBody>
      </p:sp>
      <p:cxnSp>
        <p:nvCxnSpPr>
          <p:cNvPr id="315" name="Straight Arrow Connector 314">
            <a:extLst>
              <a:ext uri="{FF2B5EF4-FFF2-40B4-BE49-F238E27FC236}">
                <a16:creationId xmlns:a16="http://schemas.microsoft.com/office/drawing/2014/main" id="{77D7E5BB-3652-9A3A-EEA9-EED7C07227A0}"/>
              </a:ext>
            </a:extLst>
          </p:cNvPr>
          <p:cNvCxnSpPr>
            <a:cxnSpLocks/>
          </p:cNvCxnSpPr>
          <p:nvPr/>
        </p:nvCxnSpPr>
        <p:spPr>
          <a:xfrm>
            <a:off x="925961" y="4419725"/>
            <a:ext cx="1427133" cy="0"/>
          </a:xfrm>
          <a:prstGeom prst="straightConnector1">
            <a:avLst/>
          </a:prstGeom>
          <a:ln w="12700"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7" name="Graphic 326">
            <a:extLst>
              <a:ext uri="{FF2B5EF4-FFF2-40B4-BE49-F238E27FC236}">
                <a16:creationId xmlns:a16="http://schemas.microsoft.com/office/drawing/2014/main" id="{B0941B13-0EC4-7671-1DBF-0F66EBFA4EB6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3458029" y="6808212"/>
            <a:ext cx="360000" cy="360000"/>
          </a:xfrm>
          <a:prstGeom prst="rect">
            <a:avLst/>
          </a:prstGeom>
        </p:spPr>
      </p:pic>
      <p:sp>
        <p:nvSpPr>
          <p:cNvPr id="328" name="TextBox 327">
            <a:extLst>
              <a:ext uri="{FF2B5EF4-FFF2-40B4-BE49-F238E27FC236}">
                <a16:creationId xmlns:a16="http://schemas.microsoft.com/office/drawing/2014/main" id="{C6ED232E-333B-9AE7-BC9A-DEACEFA41FBA}"/>
              </a:ext>
            </a:extLst>
          </p:cNvPr>
          <p:cNvSpPr txBox="1"/>
          <p:nvPr/>
        </p:nvSpPr>
        <p:spPr>
          <a:xfrm>
            <a:off x="3140755" y="7194000"/>
            <a:ext cx="9733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Storage Account</a:t>
            </a:r>
          </a:p>
          <a:p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(Terraform State)</a:t>
            </a:r>
          </a:p>
        </p:txBody>
      </p:sp>
      <p:pic>
        <p:nvPicPr>
          <p:cNvPr id="330" name="Graphic 329">
            <a:extLst>
              <a:ext uri="{FF2B5EF4-FFF2-40B4-BE49-F238E27FC236}">
                <a16:creationId xmlns:a16="http://schemas.microsoft.com/office/drawing/2014/main" id="{598A8596-044B-9330-21E2-8E33397F8945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2809656" y="699847"/>
            <a:ext cx="360000" cy="360000"/>
          </a:xfrm>
          <a:prstGeom prst="rect">
            <a:avLst/>
          </a:prstGeom>
        </p:spPr>
      </p:pic>
      <p:sp>
        <p:nvSpPr>
          <p:cNvPr id="331" name="TextBox 330">
            <a:extLst>
              <a:ext uri="{FF2B5EF4-FFF2-40B4-BE49-F238E27FC236}">
                <a16:creationId xmlns:a16="http://schemas.microsoft.com/office/drawing/2014/main" id="{B17CC785-EA08-4EB7-F816-2A92B67B5470}"/>
              </a:ext>
            </a:extLst>
          </p:cNvPr>
          <p:cNvSpPr txBox="1"/>
          <p:nvPr/>
        </p:nvSpPr>
        <p:spPr>
          <a:xfrm>
            <a:off x="2471433" y="1092143"/>
            <a:ext cx="10262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 Repository</a:t>
            </a:r>
          </a:p>
        </p:txBody>
      </p:sp>
      <p:pic>
        <p:nvPicPr>
          <p:cNvPr id="336" name="Graphic 335">
            <a:extLst>
              <a:ext uri="{FF2B5EF4-FFF2-40B4-BE49-F238E27FC236}">
                <a16:creationId xmlns:a16="http://schemas.microsoft.com/office/drawing/2014/main" id="{33513F6A-755E-F2D0-AFBA-A6EB648830F9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6018094" y="281126"/>
            <a:ext cx="360000" cy="360000"/>
          </a:xfrm>
          <a:prstGeom prst="rect">
            <a:avLst/>
          </a:prstGeom>
        </p:spPr>
      </p:pic>
      <p:cxnSp>
        <p:nvCxnSpPr>
          <p:cNvPr id="338" name="Elbow Connector 337">
            <a:extLst>
              <a:ext uri="{FF2B5EF4-FFF2-40B4-BE49-F238E27FC236}">
                <a16:creationId xmlns:a16="http://schemas.microsoft.com/office/drawing/2014/main" id="{E73B79A7-F59C-F667-63CC-A28029E579AD}"/>
              </a:ext>
            </a:extLst>
          </p:cNvPr>
          <p:cNvCxnSpPr>
            <a:cxnSpLocks/>
            <a:stCxn id="271" idx="2"/>
            <a:endCxn id="43" idx="0"/>
          </p:cNvCxnSpPr>
          <p:nvPr/>
        </p:nvCxnSpPr>
        <p:spPr>
          <a:xfrm rot="5400000">
            <a:off x="3884089" y="5671792"/>
            <a:ext cx="1849327" cy="351139"/>
          </a:xfrm>
          <a:prstGeom prst="bentConnector3">
            <a:avLst/>
          </a:prstGeom>
          <a:ln w="12700"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Elbow Connector 340">
            <a:extLst>
              <a:ext uri="{FF2B5EF4-FFF2-40B4-BE49-F238E27FC236}">
                <a16:creationId xmlns:a16="http://schemas.microsoft.com/office/drawing/2014/main" id="{A61F0AAF-A174-BFD1-6F2D-EC32F719B6D7}"/>
              </a:ext>
            </a:extLst>
          </p:cNvPr>
          <p:cNvCxnSpPr>
            <a:stCxn id="271" idx="2"/>
            <a:endCxn id="41" idx="0"/>
          </p:cNvCxnSpPr>
          <p:nvPr/>
        </p:nvCxnSpPr>
        <p:spPr>
          <a:xfrm rot="16200000" flipH="1">
            <a:off x="4230540" y="5676477"/>
            <a:ext cx="1849710" cy="342151"/>
          </a:xfrm>
          <a:prstGeom prst="bentConnector3">
            <a:avLst/>
          </a:prstGeom>
          <a:ln w="12700"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Left Brace 342">
            <a:extLst>
              <a:ext uri="{FF2B5EF4-FFF2-40B4-BE49-F238E27FC236}">
                <a16:creationId xmlns:a16="http://schemas.microsoft.com/office/drawing/2014/main" id="{EAFEC111-9942-76E2-9110-74DC560B6869}"/>
              </a:ext>
            </a:extLst>
          </p:cNvPr>
          <p:cNvSpPr/>
          <p:nvPr/>
        </p:nvSpPr>
        <p:spPr>
          <a:xfrm rot="16200000">
            <a:off x="4176158" y="6602805"/>
            <a:ext cx="458697" cy="2451600"/>
          </a:xfrm>
          <a:prstGeom prst="leftBrace">
            <a:avLst>
              <a:gd name="adj1" fmla="val 0"/>
              <a:gd name="adj2" fmla="val 50000"/>
            </a:avLst>
          </a:prstGeom>
          <a:ln w="127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8BC7869C-8D53-F714-48ED-11264E6CAFC1}"/>
              </a:ext>
            </a:extLst>
          </p:cNvPr>
          <p:cNvSpPr txBox="1"/>
          <p:nvPr/>
        </p:nvSpPr>
        <p:spPr>
          <a:xfrm>
            <a:off x="3773990" y="8085037"/>
            <a:ext cx="12554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Access Disabled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DB800F3F-154D-48E3-1CD7-1655BF4E444E}"/>
              </a:ext>
            </a:extLst>
          </p:cNvPr>
          <p:cNvSpPr txBox="1"/>
          <p:nvPr/>
        </p:nvSpPr>
        <p:spPr>
          <a:xfrm>
            <a:off x="5605112" y="691772"/>
            <a:ext cx="1225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 Actions</a:t>
            </a:r>
          </a:p>
          <a:p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Continuous Integration</a:t>
            </a: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CA6DF87D-B87A-9B72-67D0-CDC4C99C6A70}"/>
              </a:ext>
            </a:extLst>
          </p:cNvPr>
          <p:cNvSpPr txBox="1"/>
          <p:nvPr/>
        </p:nvSpPr>
        <p:spPr>
          <a:xfrm>
            <a:off x="5217051" y="1484036"/>
            <a:ext cx="19175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Azure DevOps (Managed Agent Pool)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Continuous Deployment</a:t>
            </a:r>
          </a:p>
        </p:txBody>
      </p:sp>
      <p:cxnSp>
        <p:nvCxnSpPr>
          <p:cNvPr id="349" name="Elbow Connector 348">
            <a:extLst>
              <a:ext uri="{FF2B5EF4-FFF2-40B4-BE49-F238E27FC236}">
                <a16:creationId xmlns:a16="http://schemas.microsoft.com/office/drawing/2014/main" id="{6851D3D9-5AF1-A322-A316-7B4755F5DDED}"/>
              </a:ext>
            </a:extLst>
          </p:cNvPr>
          <p:cNvCxnSpPr>
            <a:cxnSpLocks/>
          </p:cNvCxnSpPr>
          <p:nvPr/>
        </p:nvCxnSpPr>
        <p:spPr>
          <a:xfrm flipV="1">
            <a:off x="3226181" y="480603"/>
            <a:ext cx="2747669" cy="396000"/>
          </a:xfrm>
          <a:prstGeom prst="bentConnector3">
            <a:avLst/>
          </a:prstGeom>
          <a:ln w="12700"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Elbow Connector 350">
            <a:extLst>
              <a:ext uri="{FF2B5EF4-FFF2-40B4-BE49-F238E27FC236}">
                <a16:creationId xmlns:a16="http://schemas.microsoft.com/office/drawing/2014/main" id="{43A9D544-5629-0C01-6534-8F54A3942EDF}"/>
              </a:ext>
            </a:extLst>
          </p:cNvPr>
          <p:cNvCxnSpPr/>
          <p:nvPr/>
        </p:nvCxnSpPr>
        <p:spPr>
          <a:xfrm>
            <a:off x="3226181" y="876034"/>
            <a:ext cx="2746800" cy="396000"/>
          </a:xfrm>
          <a:prstGeom prst="bentConnector3">
            <a:avLst/>
          </a:prstGeom>
          <a:ln w="12700"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3327D541-3513-1C67-287C-7DD79F413FCA}"/>
              </a:ext>
            </a:extLst>
          </p:cNvPr>
          <p:cNvGrpSpPr/>
          <p:nvPr/>
        </p:nvGrpSpPr>
        <p:grpSpPr>
          <a:xfrm>
            <a:off x="271584" y="779601"/>
            <a:ext cx="654346" cy="560491"/>
            <a:chOff x="65388" y="914953"/>
            <a:chExt cx="654346" cy="560491"/>
          </a:xfrm>
        </p:grpSpPr>
        <p:pic>
          <p:nvPicPr>
            <p:cNvPr id="354" name="Graphic 353">
              <a:extLst>
                <a:ext uri="{FF2B5EF4-FFF2-40B4-BE49-F238E27FC236}">
                  <a16:creationId xmlns:a16="http://schemas.microsoft.com/office/drawing/2014/main" id="{1C5B1584-38F7-3681-8979-95742C79C3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212468" y="914953"/>
              <a:ext cx="360000" cy="360000"/>
            </a:xfrm>
            <a:prstGeom prst="rect">
              <a:avLst/>
            </a:prstGeom>
          </p:spPr>
        </p:pic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F8F4FE77-0405-3F94-81FC-673F24E0DAE2}"/>
                </a:ext>
              </a:extLst>
            </p:cNvPr>
            <p:cNvSpPr txBox="1"/>
            <p:nvPr/>
          </p:nvSpPr>
          <p:spPr>
            <a:xfrm>
              <a:off x="65388" y="1260000"/>
              <a:ext cx="6543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Developer</a:t>
              </a:r>
            </a:p>
          </p:txBody>
        </p:sp>
      </p:grpSp>
      <p:cxnSp>
        <p:nvCxnSpPr>
          <p:cNvPr id="356" name="Straight Arrow Connector 355">
            <a:extLst>
              <a:ext uri="{FF2B5EF4-FFF2-40B4-BE49-F238E27FC236}">
                <a16:creationId xmlns:a16="http://schemas.microsoft.com/office/drawing/2014/main" id="{41C39EBF-C69F-782D-94C9-896467016B12}"/>
              </a:ext>
            </a:extLst>
          </p:cNvPr>
          <p:cNvCxnSpPr>
            <a:cxnSpLocks/>
          </p:cNvCxnSpPr>
          <p:nvPr/>
        </p:nvCxnSpPr>
        <p:spPr>
          <a:xfrm>
            <a:off x="925200" y="875967"/>
            <a:ext cx="1827144" cy="0"/>
          </a:xfrm>
          <a:prstGeom prst="straightConnector1">
            <a:avLst/>
          </a:prstGeom>
          <a:ln w="12700"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Left Brace 359">
            <a:extLst>
              <a:ext uri="{FF2B5EF4-FFF2-40B4-BE49-F238E27FC236}">
                <a16:creationId xmlns:a16="http://schemas.microsoft.com/office/drawing/2014/main" id="{4373D8CB-4E45-DC4A-720D-937299735449}"/>
              </a:ext>
            </a:extLst>
          </p:cNvPr>
          <p:cNvSpPr/>
          <p:nvPr/>
        </p:nvSpPr>
        <p:spPr>
          <a:xfrm rot="5400000" flipV="1">
            <a:off x="6057852" y="690030"/>
            <a:ext cx="251999" cy="2635200"/>
          </a:xfrm>
          <a:prstGeom prst="leftBrace">
            <a:avLst>
              <a:gd name="adj1" fmla="val 0"/>
              <a:gd name="adj2" fmla="val 50000"/>
            </a:avLst>
          </a:prstGeom>
          <a:ln w="127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4" name="Picture 363">
            <a:extLst>
              <a:ext uri="{FF2B5EF4-FFF2-40B4-BE49-F238E27FC236}">
                <a16:creationId xmlns:a16="http://schemas.microsoft.com/office/drawing/2014/main" id="{E263207B-8B60-4CB6-4B5A-45D1A9C4F30D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8143895" y="309815"/>
            <a:ext cx="361545" cy="360000"/>
          </a:xfrm>
          <a:prstGeom prst="rect">
            <a:avLst/>
          </a:prstGeom>
        </p:spPr>
      </p:pic>
      <p:cxnSp>
        <p:nvCxnSpPr>
          <p:cNvPr id="365" name="Straight Arrow Connector 364">
            <a:extLst>
              <a:ext uri="{FF2B5EF4-FFF2-40B4-BE49-F238E27FC236}">
                <a16:creationId xmlns:a16="http://schemas.microsoft.com/office/drawing/2014/main" id="{A64E59D2-6111-1162-B609-B4B501332964}"/>
              </a:ext>
            </a:extLst>
          </p:cNvPr>
          <p:cNvCxnSpPr>
            <a:cxnSpLocks/>
          </p:cNvCxnSpPr>
          <p:nvPr/>
        </p:nvCxnSpPr>
        <p:spPr>
          <a:xfrm>
            <a:off x="6480175" y="481033"/>
            <a:ext cx="1564880" cy="0"/>
          </a:xfrm>
          <a:prstGeom prst="straightConnector1">
            <a:avLst/>
          </a:prstGeom>
          <a:ln w="12700"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8" name="TextBox 367">
            <a:extLst>
              <a:ext uri="{FF2B5EF4-FFF2-40B4-BE49-F238E27FC236}">
                <a16:creationId xmlns:a16="http://schemas.microsoft.com/office/drawing/2014/main" id="{0C33DC23-1D42-41D5-9C9D-FA62D0055CEF}"/>
              </a:ext>
            </a:extLst>
          </p:cNvPr>
          <p:cNvSpPr txBox="1"/>
          <p:nvPr/>
        </p:nvSpPr>
        <p:spPr>
          <a:xfrm>
            <a:off x="7824658" y="691893"/>
            <a:ext cx="9813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 Container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Registry</a:t>
            </a:r>
          </a:p>
        </p:txBody>
      </p:sp>
      <p:cxnSp>
        <p:nvCxnSpPr>
          <p:cNvPr id="372" name="Straight Arrow Connector 371">
            <a:extLst>
              <a:ext uri="{FF2B5EF4-FFF2-40B4-BE49-F238E27FC236}">
                <a16:creationId xmlns:a16="http://schemas.microsoft.com/office/drawing/2014/main" id="{9AC76990-FADE-CC9C-FAF8-D4B6A336897C}"/>
              </a:ext>
            </a:extLst>
          </p:cNvPr>
          <p:cNvCxnSpPr>
            <a:cxnSpLocks/>
          </p:cNvCxnSpPr>
          <p:nvPr/>
        </p:nvCxnSpPr>
        <p:spPr>
          <a:xfrm>
            <a:off x="8315337" y="1075055"/>
            <a:ext cx="0" cy="1800000"/>
          </a:xfrm>
          <a:prstGeom prst="straightConnector1">
            <a:avLst/>
          </a:prstGeom>
          <a:ln w="12700"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6" name="Graphic 375">
            <a:extLst>
              <a:ext uri="{FF2B5EF4-FFF2-40B4-BE49-F238E27FC236}">
                <a16:creationId xmlns:a16="http://schemas.microsoft.com/office/drawing/2014/main" id="{5F7A7D13-0430-BDF2-3BB5-F89A8012F6C8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1299911" y="4007802"/>
            <a:ext cx="360000" cy="360000"/>
          </a:xfrm>
          <a:prstGeom prst="rect">
            <a:avLst/>
          </a:prstGeom>
        </p:spPr>
      </p:pic>
      <p:sp>
        <p:nvSpPr>
          <p:cNvPr id="378" name="TextBox 377">
            <a:extLst>
              <a:ext uri="{FF2B5EF4-FFF2-40B4-BE49-F238E27FC236}">
                <a16:creationId xmlns:a16="http://schemas.microsoft.com/office/drawing/2014/main" id="{20E63A3B-2158-3933-4F84-CD8C039310F5}"/>
              </a:ext>
            </a:extLst>
          </p:cNvPr>
          <p:cNvSpPr txBox="1"/>
          <p:nvPr/>
        </p:nvSpPr>
        <p:spPr>
          <a:xfrm>
            <a:off x="1137755" y="4423111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Entra ID</a:t>
            </a:r>
          </a:p>
          <a:p>
            <a:pPr algn="ctr"/>
            <a:r>
              <a:rPr lang="en-US" sz="8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MFA Auth.</a:t>
            </a:r>
          </a:p>
        </p:txBody>
      </p:sp>
      <p:pic>
        <p:nvPicPr>
          <p:cNvPr id="380" name="Graphic 379">
            <a:extLst>
              <a:ext uri="{FF2B5EF4-FFF2-40B4-BE49-F238E27FC236}">
                <a16:creationId xmlns:a16="http://schemas.microsoft.com/office/drawing/2014/main" id="{7E103E19-69AC-6B36-D5A8-936FAF720655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5881556" y="1960085"/>
            <a:ext cx="574872" cy="574872"/>
          </a:xfrm>
          <a:prstGeom prst="rect">
            <a:avLst/>
          </a:prstGeom>
        </p:spPr>
      </p:pic>
      <p:sp>
        <p:nvSpPr>
          <p:cNvPr id="381" name="TextBox 380">
            <a:extLst>
              <a:ext uri="{FF2B5EF4-FFF2-40B4-BE49-F238E27FC236}">
                <a16:creationId xmlns:a16="http://schemas.microsoft.com/office/drawing/2014/main" id="{35AC3793-5DB9-DF3D-898B-75236A53D2F2}"/>
              </a:ext>
            </a:extLst>
          </p:cNvPr>
          <p:cNvSpPr txBox="1"/>
          <p:nvPr/>
        </p:nvSpPr>
        <p:spPr>
          <a:xfrm>
            <a:off x="5849131" y="2467341"/>
            <a:ext cx="6351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Terraform</a:t>
            </a:r>
          </a:p>
        </p:txBody>
      </p:sp>
    </p:spTree>
    <p:extLst>
      <p:ext uri="{BB962C8B-B14F-4D97-AF65-F5344CB8AC3E}">
        <p14:creationId xmlns:p14="http://schemas.microsoft.com/office/powerpoint/2010/main" val="318895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7118</TotalTime>
  <Words>272</Words>
  <Application>Microsoft Macintosh PowerPoint</Application>
  <PresentationFormat>Custom</PresentationFormat>
  <Paragraphs>106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MOORE, Patrick (NHS ENGLAND)</dc:creator>
  <cp:lastModifiedBy>MOORE, Patrick (NHS ENGLAND)</cp:lastModifiedBy>
  <cp:revision>18</cp:revision>
  <dcterms:created xsi:type="dcterms:W3CDTF">2025-11-12T16:04:10Z</dcterms:created>
  <dcterms:modified xsi:type="dcterms:W3CDTF">2025-11-17T17:21:11Z</dcterms:modified>
</cp:coreProperties>
</file>